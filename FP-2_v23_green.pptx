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" id="{27d164ef-ac47-d582-8fc3-3a759807daca}">
          <p14:sldIdLst>
            <p14:sldId id="256"/>
          </p14:sldIdLst>
        </p14:section>
        <p14:section name="Мета" id="{2883b00b-f58c-795f-c74f-1520b6bf63d0}">
          <p14:sldIdLst>
            <p14:sldId id="257"/>
          </p14:sldIdLst>
        </p14:section>
        <p14:section name="Підготовка" id="{33d0042a-4187-67d5-8492-62a2b53f71b0}">
          <p14:sldIdLst>
            <p14:sldId id="258"/>
            <p14:sldId id="259"/>
            <p14:sldId id="260"/>
          </p14:sldIdLst>
        </p14:section>
        <p14:section name="Симулятор" id="{1eeee693-0748-f78b-4a0e-5044dec7e3fb}">
          <p14:sldIdLst>
            <p14:sldId id="261"/>
          </p14:sldIdLst>
        </p14:section>
        <p14:section name="Розвиток" id="{c23b29e5-6c7d-acec-2bbf-754d8f47273a}">
          <p14:sldIdLst>
            <p14:sldId id="262"/>
          </p14:sldIdLst>
        </p14:section>
        <p14:section name="Завершення" id="{e6299523-e627-8f41-24d5-cda0e3349dea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Добрий день. Представляю проєкт школи пілотів і штурманів FP-2 Центру спеціальних операцій «А». Суть проста: ми готуємо власні екіпажі під задачі Центру, поєднуючи бойовий досвід, якісну навчальну базу і сучасне оснащення. На фоні — реальний кадр із нашого симулятора.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причини. Перша — нам потрібно більше пілотів і штурманів, підготовлених саме під наші задачі, а не загального профілю. Друга — підготовлений екіпаж підвищує результативність бойових місій. Третя — це прямо відбивається на показниках бойової роботи підрозділів. Тобто школа — не витрата, а множник ефективності.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Принцип підготовки — інтеграція трьох складових. Бойовий досвід: програму пишуть люди, які самі працювали на FP-2. Навчальна база: структурована програма, яка оперативно оновлюється. Технічне оснащення: симулятор, на якому керування ідентичне бойовому вильоту. Разом це дає на виході пілота або штурмана високого класу.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Шлях навчання — крок за кроком. Люди вже служать у Центрі, тому все починається з відбору у підрозділах. Далі — освоєння теорії і практики, сертифікація, накопичення досвіду, і на виході — фахівець високого класу. Кожен крок має чітку ціль і зрозумілий результат.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Навчання складається з чотирьох елементів. Програма, яку написали співробітники з реальним бойовим досвідом на FP-2. Симулятор, що відтворює бойову місію. Участь у реальній місії в ролі спостерігача. І жива комунікація з досвідченими пілотами та штурманами — передача досвіду напряму.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Ключова перевага — тренуємось так, як воюємо. Симуляція максимально реалістична, включно з перешкодами, які можуть виникнути під час місії. Керування — контролер і робоче місце — ідентичне бойовому вильоту. І програми для планування ті самі, що й на реальних місіях. Помилка на симуляторі нічого не коштує — помилка в бою коштує борта і задачі.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Модель масштабується. Навчальні пункти можна розгорнути в інших населених пунктах. Симулятор підходить для тренувань на будь-яких БпЛА типу «крило», не лише FP-2. А програма оперативно оновлюється під актуальну бойову обстановку і потреби Центру.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Підсумок: школа дає більше підготовлених екіпажів, симулятор максимально наближає навчання до бойової роботи, а модель готова до масштабування. Вкладення в школу — це вкладення в результат кожної бойової місії. Дякую, готовий відповісти на запитання.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TITLE-image-2.jpe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CONTENT-image-2.jpe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CLOSING-image-2.jpe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Емблема ЦСО «А» СБ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1143000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91640" y="6400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spc="200" kern="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ЦЕНТР СПЕЦІАЛЬНИХ ОПЕРАЦІЙ «А»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spc="200" kern="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СЛУЖБИ БЕЗПЕКИ УКРАЇНИ</a:t>
            </a:r>
            <a:endParaRPr lang="en-US" sz="1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2103120"/>
            <a:ext cx="594360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spc="4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2487168"/>
            <a:ext cx="60350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5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5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0" y="42976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Центр спеціальних операцій «А» Служби безпеки України</a:t>
            </a:r>
            <a:endParaRPr lang="en-US" sz="1100" dirty="0"/>
          </a:p>
        </p:txBody>
      </p:sp>
      <p:pic>
        <p:nvPicPr>
          <p:cNvPr id="3" name="Image 0" descr="Емблема ЦСО «А» СБ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27432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ШКОЛА ПІЛОТІВ І ШТУРМАНІВ FP-2</a:t>
            </a:r>
            <a:endParaRPr lang="en-US" sz="11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411480"/>
            <a:ext cx="493776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548640" y="749808"/>
            <a:ext cx="99669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Емблема ЦСО «А» СБ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2888" y="365760"/>
            <a:ext cx="1645920" cy="1645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2194560"/>
            <a:ext cx="1036289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ctr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10312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400" kern="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ПРЕЗЕНТАЦІЯ ПРОЄКТУ</a:t>
            </a:r>
            <a:endParaRPr lang="en-US" sz="15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2487168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ШКОЛА ПІЛОТІВ</a:t>
            </a:r>
            <a:endParaRPr lang="en-US" sz="5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5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І ШТУРМАНІВ</a:t>
            </a:r>
            <a:endParaRPr lang="en-US" sz="5000" dirty="0"/>
          </a:p>
        </p:txBody>
      </p:sp>
      <p:sp>
        <p:nvSpPr>
          <p:cNvPr id="4" name="FP-2 акцент"/>
          <p:cNvSpPr txBox="1"/>
          <p:nvPr/>
        </p:nvSpPr>
        <p:spPr>
          <a:xfrm>
            <a:off x="502920" y="393192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chemeClr val="accent1"/>
                </a:solidFill>
                <a:effectLst>
                  <a:glow rad="1016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FP-2</a:t>
            </a:r>
            <a:endParaRPr lang="en-US" sz="12000" dirty="0"/>
          </a:p>
        </p:txBody>
      </p:sp>
      <p:sp>
        <p:nvSpPr>
          <p:cNvPr id="5" name="Слоган"/>
          <p:cNvSpPr txBox="1"/>
          <p:nvPr/>
        </p:nvSpPr>
        <p:spPr>
          <a:xfrm>
            <a:off x="548640" y="55321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Бойовий досвід</a:t>
            </a:r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Навчальна база</a:t>
            </a:r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Сучасне оснащення</a:t>
            </a:r>
            <a:endParaRPr lang="en-US" sz="1800" dirty="0"/>
          </a:p>
        </p:txBody>
      </p:sp>
      <p:sp>
        <p:nvSpPr>
          <p:cNvPr id="6" name="Рамка симулятора кут 1"/>
          <p:cNvSpPr/>
          <p:nvPr/>
        </p:nvSpPr>
        <p:spPr>
          <a:xfrm>
            <a:off x="6903720" y="1234440"/>
            <a:ext cx="3200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7" name="Рамка симулятора кут 2"/>
          <p:cNvSpPr/>
          <p:nvPr/>
        </p:nvSpPr>
        <p:spPr>
          <a:xfrm>
            <a:off x="6903720" y="1234440"/>
            <a:ext cx="0" cy="32004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8" name="Рамка симулятора кут 3"/>
          <p:cNvSpPr/>
          <p:nvPr/>
        </p:nvSpPr>
        <p:spPr>
          <a:xfrm>
            <a:off x="10698480" y="1234440"/>
            <a:ext cx="3200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9" name="Рамка симулятора кут 4"/>
          <p:cNvSpPr/>
          <p:nvPr/>
        </p:nvSpPr>
        <p:spPr>
          <a:xfrm>
            <a:off x="11018520" y="1234440"/>
            <a:ext cx="0" cy="32004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0" name="Рамка симулятора кут 5"/>
          <p:cNvSpPr/>
          <p:nvPr/>
        </p:nvSpPr>
        <p:spPr>
          <a:xfrm>
            <a:off x="6903720" y="4251960"/>
            <a:ext cx="3200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1" name="Рамка симулятора кут 6"/>
          <p:cNvSpPr/>
          <p:nvPr/>
        </p:nvSpPr>
        <p:spPr>
          <a:xfrm>
            <a:off x="6903720" y="3931920"/>
            <a:ext cx="0" cy="32004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2" name="Рамка симулятора кут 7"/>
          <p:cNvSpPr/>
          <p:nvPr/>
        </p:nvSpPr>
        <p:spPr>
          <a:xfrm>
            <a:off x="10698480" y="4251960"/>
            <a:ext cx="3200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3" name="Рамка симулятора кут 8"/>
          <p:cNvSpPr/>
          <p:nvPr/>
        </p:nvSpPr>
        <p:spPr>
          <a:xfrm>
            <a:off x="11018520" y="3931920"/>
            <a:ext cx="0" cy="32004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4" name="Підпис симулятора"/>
          <p:cNvSpPr txBox="1"/>
          <p:nvPr/>
        </p:nvSpPr>
        <p:spPr>
          <a:xfrm>
            <a:off x="6903720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СИМУЛЯЦІЯ БОЙОВОЇ МІСІЇ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4114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// МЕТА ПРОЄКТУ</a:t>
            </a:r>
            <a:endParaRPr lang="en-US" sz="14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74980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НАВІЩО СТВОРЮВАТИ ШКОЛУ?</a:t>
            </a:r>
            <a:endParaRPr lang="en-US" sz="4000" dirty="0"/>
          </a:p>
        </p:txBody>
      </p:sp>
      <p:pic>
        <p:nvPicPr>
          <p:cNvPr id="4" name="Ілюстрація 01" descr="Ілюстрація: БпЛА в прицілі, три результати школи — екіпажі, результативність, показник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3223260" cy="4343400"/>
          </a:xfrm>
          <a:prstGeom prst="rect">
            <a:avLst/>
          </a:prstGeom>
        </p:spPr>
      </p:pic>
      <p:sp>
        <p:nvSpPr>
          <p:cNvPr id="5" name="Рамка коміксу 01"/>
          <p:cNvSpPr/>
          <p:nvPr/>
        </p:nvSpPr>
        <p:spPr>
          <a:xfrm>
            <a:off x="548640" y="1783080"/>
            <a:ext cx="3223260" cy="4343400"/>
          </a:xfrm>
          <a:prstGeom prst="rect">
            <a:avLst/>
          </a:prstGeom>
          <a:ln w="15875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6" name="Кути коміксу 01 кут 1"/>
          <p:cNvSpPr/>
          <p:nvPr/>
        </p:nvSpPr>
        <p:spPr>
          <a:xfrm>
            <a:off x="438912" y="167335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7" name="Кути коміксу 01 кут 2"/>
          <p:cNvSpPr/>
          <p:nvPr/>
        </p:nvSpPr>
        <p:spPr>
          <a:xfrm>
            <a:off x="438912" y="167335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8" name="Кути коміксу 01 кут 3"/>
          <p:cNvSpPr/>
          <p:nvPr/>
        </p:nvSpPr>
        <p:spPr>
          <a:xfrm>
            <a:off x="3643884" y="167335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9" name="Кути коміксу 01 кут 4"/>
          <p:cNvSpPr/>
          <p:nvPr/>
        </p:nvSpPr>
        <p:spPr>
          <a:xfrm>
            <a:off x="3881628" y="167335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0" name="Кути коміксу 01 кут 5"/>
          <p:cNvSpPr/>
          <p:nvPr/>
        </p:nvSpPr>
        <p:spPr>
          <a:xfrm>
            <a:off x="438912" y="6236208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1" name="Кути коміксу 01 кут 6"/>
          <p:cNvSpPr/>
          <p:nvPr/>
        </p:nvSpPr>
        <p:spPr>
          <a:xfrm>
            <a:off x="438912" y="5998464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2" name="Кути коміксу 01 кут 7"/>
          <p:cNvSpPr/>
          <p:nvPr/>
        </p:nvSpPr>
        <p:spPr>
          <a:xfrm>
            <a:off x="3643884" y="6236208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3" name="Кути коміксу 01 кут 8"/>
          <p:cNvSpPr/>
          <p:nvPr/>
        </p:nvSpPr>
        <p:spPr>
          <a:xfrm>
            <a:off x="3881628" y="5998464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4" name="Тег 01"/>
          <p:cNvSpPr/>
          <p:nvPr/>
        </p:nvSpPr>
        <p:spPr>
          <a:xfrm>
            <a:off x="685800" y="1920240"/>
            <a:ext cx="1234440" cy="292608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Підпис кадру 01"/>
          <p:cNvSpPr txBox="1"/>
          <p:nvPr/>
        </p:nvSpPr>
        <p:spPr>
          <a:xfrm>
            <a:off x="685800" y="19202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КАДР 01</a:t>
            </a:r>
            <a:endParaRPr lang="en-US" sz="1100" dirty="0"/>
          </a:p>
        </p:txBody>
      </p:sp>
      <p:sp>
        <p:nvSpPr>
          <p:cNvPr id="16" name="Картка 01"/>
          <p:cNvSpPr/>
          <p:nvPr/>
        </p:nvSpPr>
        <p:spPr>
          <a:xfrm>
            <a:off x="4183380" y="1783080"/>
            <a:ext cx="7459675" cy="1115568"/>
          </a:xfrm>
          <a:prstGeom prst="rect">
            <a:avLst/>
          </a:prstGeom>
          <a:solidFill>
            <a:schemeClr val="bg2">
              <a:alpha val="88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7" name="Картка 01 кут 1"/>
          <p:cNvSpPr/>
          <p:nvPr/>
        </p:nvSpPr>
        <p:spPr>
          <a:xfrm>
            <a:off x="4183380" y="1783080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8" name="Картка 01 кут 2"/>
          <p:cNvSpPr/>
          <p:nvPr/>
        </p:nvSpPr>
        <p:spPr>
          <a:xfrm>
            <a:off x="4183380" y="1783080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9" name="Картка 01 кут 3"/>
          <p:cNvSpPr/>
          <p:nvPr/>
        </p:nvSpPr>
        <p:spPr>
          <a:xfrm>
            <a:off x="11496751" y="1783080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0" name="Картка 01 кут 4"/>
          <p:cNvSpPr/>
          <p:nvPr/>
        </p:nvSpPr>
        <p:spPr>
          <a:xfrm>
            <a:off x="11643055" y="1783080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1" name="Картка 01 кут 5"/>
          <p:cNvSpPr/>
          <p:nvPr/>
        </p:nvSpPr>
        <p:spPr>
          <a:xfrm>
            <a:off x="4183380" y="2898648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2" name="Картка 01 кут 6"/>
          <p:cNvSpPr/>
          <p:nvPr/>
        </p:nvSpPr>
        <p:spPr>
          <a:xfrm>
            <a:off x="4183380" y="2752344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3" name="Картка 01 кут 7"/>
          <p:cNvSpPr/>
          <p:nvPr/>
        </p:nvSpPr>
        <p:spPr>
          <a:xfrm>
            <a:off x="11496751" y="2898648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4" name="Картка 01 кут 8"/>
          <p:cNvSpPr/>
          <p:nvPr/>
        </p:nvSpPr>
        <p:spPr>
          <a:xfrm>
            <a:off x="11643055" y="2752344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5" name="Номер 01"/>
          <p:cNvSpPr txBox="1"/>
          <p:nvPr/>
        </p:nvSpPr>
        <p:spPr>
          <a:xfrm>
            <a:off x="4457700" y="1783080"/>
            <a:ext cx="960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accent1"/>
                </a:solidFill>
                <a:effectLst>
                  <a:glow rad="4572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4000" dirty="0"/>
          </a:p>
        </p:txBody>
      </p:sp>
      <p:pic>
        <p:nvPicPr>
          <p:cNvPr id="26" name="Іконка MdGroups" descr="Декоративна іконк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2674" y="1986534"/>
            <a:ext cx="708660" cy="708660"/>
          </a:xfrm>
          <a:prstGeom prst="rect">
            <a:avLst/>
          </a:prstGeom>
        </p:spPr>
      </p:pic>
      <p:sp>
        <p:nvSpPr>
          <p:cNvPr id="27" name="Заголовок 01"/>
          <p:cNvSpPr txBox="1"/>
          <p:nvPr/>
        </p:nvSpPr>
        <p:spPr>
          <a:xfrm>
            <a:off x="6286500" y="1938528"/>
            <a:ext cx="51279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Більше пілотів і штурманів</a:t>
            </a:r>
            <a:endParaRPr lang="en-US" sz="2200" dirty="0"/>
          </a:p>
        </p:txBody>
      </p:sp>
      <p:sp>
        <p:nvSpPr>
          <p:cNvPr id="28" name="Опис 01"/>
          <p:cNvSpPr txBox="1"/>
          <p:nvPr/>
        </p:nvSpPr>
        <p:spPr>
          <a:xfrm>
            <a:off x="6286500" y="2377440"/>
            <a:ext cx="51279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навчених саме під потреби Центру</a:t>
            </a:r>
            <a:endParaRPr lang="en-US" sz="1700" dirty="0"/>
          </a:p>
        </p:txBody>
      </p:sp>
      <p:sp>
        <p:nvSpPr>
          <p:cNvPr id="29" name="Картка 02"/>
          <p:cNvSpPr/>
          <p:nvPr/>
        </p:nvSpPr>
        <p:spPr>
          <a:xfrm>
            <a:off x="4183380" y="3099816"/>
            <a:ext cx="7459675" cy="1115568"/>
          </a:xfrm>
          <a:prstGeom prst="rect">
            <a:avLst/>
          </a:prstGeom>
          <a:solidFill>
            <a:schemeClr val="bg2">
              <a:alpha val="88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0" name="Картка 02 кут 1"/>
          <p:cNvSpPr/>
          <p:nvPr/>
        </p:nvSpPr>
        <p:spPr>
          <a:xfrm>
            <a:off x="4183380" y="3099816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31" name="Картка 02 кут 2"/>
          <p:cNvSpPr/>
          <p:nvPr/>
        </p:nvSpPr>
        <p:spPr>
          <a:xfrm>
            <a:off x="4183380" y="3099816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32" name="Картка 02 кут 3"/>
          <p:cNvSpPr/>
          <p:nvPr/>
        </p:nvSpPr>
        <p:spPr>
          <a:xfrm>
            <a:off x="11496751" y="3099816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33" name="Картка 02 кут 4"/>
          <p:cNvSpPr/>
          <p:nvPr/>
        </p:nvSpPr>
        <p:spPr>
          <a:xfrm>
            <a:off x="11643055" y="3099816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34" name="Картка 02 кут 5"/>
          <p:cNvSpPr/>
          <p:nvPr/>
        </p:nvSpPr>
        <p:spPr>
          <a:xfrm>
            <a:off x="4183380" y="4215384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35" name="Картка 02 кут 6"/>
          <p:cNvSpPr/>
          <p:nvPr/>
        </p:nvSpPr>
        <p:spPr>
          <a:xfrm>
            <a:off x="4183380" y="4069080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36" name="Картка 02 кут 7"/>
          <p:cNvSpPr/>
          <p:nvPr/>
        </p:nvSpPr>
        <p:spPr>
          <a:xfrm>
            <a:off x="11496751" y="4215384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37" name="Картка 02 кут 8"/>
          <p:cNvSpPr/>
          <p:nvPr/>
        </p:nvSpPr>
        <p:spPr>
          <a:xfrm>
            <a:off x="11643055" y="4069080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38" name="Номер 02"/>
          <p:cNvSpPr txBox="1"/>
          <p:nvPr/>
        </p:nvSpPr>
        <p:spPr>
          <a:xfrm>
            <a:off x="4457700" y="3099816"/>
            <a:ext cx="960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accent1"/>
                </a:solidFill>
                <a:effectLst>
                  <a:glow rad="4572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4000" dirty="0"/>
          </a:p>
        </p:txBody>
      </p:sp>
      <p:pic>
        <p:nvPicPr>
          <p:cNvPr id="39" name="Іконка GiOnTarget" descr="Декоративна іконк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2674" y="3303270"/>
            <a:ext cx="708660" cy="708660"/>
          </a:xfrm>
          <a:prstGeom prst="rect">
            <a:avLst/>
          </a:prstGeom>
        </p:spPr>
      </p:pic>
      <p:sp>
        <p:nvSpPr>
          <p:cNvPr id="40" name="Заголовок 02"/>
          <p:cNvSpPr txBox="1"/>
          <p:nvPr/>
        </p:nvSpPr>
        <p:spPr>
          <a:xfrm>
            <a:off x="6286500" y="3255264"/>
            <a:ext cx="51279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Вища результативність</a:t>
            </a:r>
            <a:endParaRPr lang="en-US" sz="2200" dirty="0"/>
          </a:p>
        </p:txBody>
      </p:sp>
      <p:sp>
        <p:nvSpPr>
          <p:cNvPr id="41" name="Опис 02"/>
          <p:cNvSpPr txBox="1"/>
          <p:nvPr/>
        </p:nvSpPr>
        <p:spPr>
          <a:xfrm>
            <a:off x="6286500" y="3694176"/>
            <a:ext cx="51279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бойових місій</a:t>
            </a:r>
            <a:endParaRPr lang="en-US" sz="1700" dirty="0"/>
          </a:p>
        </p:txBody>
      </p:sp>
      <p:sp>
        <p:nvSpPr>
          <p:cNvPr id="42" name="Картка 03"/>
          <p:cNvSpPr/>
          <p:nvPr/>
        </p:nvSpPr>
        <p:spPr>
          <a:xfrm>
            <a:off x="4183380" y="4416552"/>
            <a:ext cx="7459675" cy="1115568"/>
          </a:xfrm>
          <a:prstGeom prst="rect">
            <a:avLst/>
          </a:prstGeom>
          <a:solidFill>
            <a:schemeClr val="bg2">
              <a:alpha val="88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3" name="Картка 03 кут 1"/>
          <p:cNvSpPr/>
          <p:nvPr/>
        </p:nvSpPr>
        <p:spPr>
          <a:xfrm>
            <a:off x="4183380" y="4416552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44" name="Картка 03 кут 2"/>
          <p:cNvSpPr/>
          <p:nvPr/>
        </p:nvSpPr>
        <p:spPr>
          <a:xfrm>
            <a:off x="4183380" y="4416552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45" name="Картка 03 кут 3"/>
          <p:cNvSpPr/>
          <p:nvPr/>
        </p:nvSpPr>
        <p:spPr>
          <a:xfrm>
            <a:off x="11496751" y="4416552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46" name="Картка 03 кут 4"/>
          <p:cNvSpPr/>
          <p:nvPr/>
        </p:nvSpPr>
        <p:spPr>
          <a:xfrm>
            <a:off x="11643055" y="4416552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47" name="Картка 03 кут 5"/>
          <p:cNvSpPr/>
          <p:nvPr/>
        </p:nvSpPr>
        <p:spPr>
          <a:xfrm>
            <a:off x="4183380" y="5532120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48" name="Картка 03 кут 6"/>
          <p:cNvSpPr/>
          <p:nvPr/>
        </p:nvSpPr>
        <p:spPr>
          <a:xfrm>
            <a:off x="4183380" y="5385816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49" name="Картка 03 кут 7"/>
          <p:cNvSpPr/>
          <p:nvPr/>
        </p:nvSpPr>
        <p:spPr>
          <a:xfrm>
            <a:off x="11496751" y="5532120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50" name="Картка 03 кут 8"/>
          <p:cNvSpPr/>
          <p:nvPr/>
        </p:nvSpPr>
        <p:spPr>
          <a:xfrm>
            <a:off x="11643055" y="5385816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51" name="Номер 03"/>
          <p:cNvSpPr txBox="1"/>
          <p:nvPr/>
        </p:nvSpPr>
        <p:spPr>
          <a:xfrm>
            <a:off x="4457700" y="4416552"/>
            <a:ext cx="960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accent1"/>
                </a:solidFill>
                <a:effectLst>
                  <a:glow rad="4572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4000" dirty="0"/>
          </a:p>
        </p:txBody>
      </p:sp>
      <p:pic>
        <p:nvPicPr>
          <p:cNvPr id="52" name="Іконка MdTrendingUp" descr="Декоративна іконк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2674" y="4620006"/>
            <a:ext cx="708660" cy="708660"/>
          </a:xfrm>
          <a:prstGeom prst="rect">
            <a:avLst/>
          </a:prstGeom>
        </p:spPr>
      </p:pic>
      <p:sp>
        <p:nvSpPr>
          <p:cNvPr id="53" name="Заголовок 03"/>
          <p:cNvSpPr txBox="1"/>
          <p:nvPr/>
        </p:nvSpPr>
        <p:spPr>
          <a:xfrm>
            <a:off x="6286500" y="4572000"/>
            <a:ext cx="51279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Кращі показники</a:t>
            </a:r>
            <a:endParaRPr lang="en-US" sz="2200" dirty="0"/>
          </a:p>
        </p:txBody>
      </p:sp>
      <p:sp>
        <p:nvSpPr>
          <p:cNvPr id="54" name="Опис 03"/>
          <p:cNvSpPr txBox="1"/>
          <p:nvPr/>
        </p:nvSpPr>
        <p:spPr>
          <a:xfrm>
            <a:off x="6286500" y="5010912"/>
            <a:ext cx="51279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бойової роботи підрозділів</a:t>
            </a:r>
            <a:endParaRPr lang="en-US" sz="1700" dirty="0"/>
          </a:p>
        </p:txBody>
      </p:sp>
      <p:sp>
        <p:nvSpPr>
          <p:cNvPr id="55" name="Ключова думка"/>
          <p:cNvSpPr txBox="1"/>
          <p:nvPr/>
        </p:nvSpPr>
        <p:spPr>
          <a:xfrm>
            <a:off x="4183380" y="5669280"/>
            <a:ext cx="7459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Школа — </a:t>
            </a:r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множник бойової ефективності Центру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4114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// ПРИНЦИП ПІДГОТОВКИ</a:t>
            </a:r>
            <a:endParaRPr lang="en-US" sz="14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74980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ФОРМУЛА ПІДГОТОВКИ</a:t>
            </a:r>
            <a:endParaRPr lang="en-US" sz="4000" dirty="0"/>
          </a:p>
        </p:txBody>
      </p:sp>
      <p:pic>
        <p:nvPicPr>
          <p:cNvPr id="4" name="Ілюстрація 02" descr="Схема: бойовий досвід, навчальна база і технічне оснащення дають пілота або штурман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3223260" cy="4343400"/>
          </a:xfrm>
          <a:prstGeom prst="rect">
            <a:avLst/>
          </a:prstGeom>
        </p:spPr>
      </p:pic>
      <p:sp>
        <p:nvSpPr>
          <p:cNvPr id="5" name="Рамка коміксу 02"/>
          <p:cNvSpPr/>
          <p:nvPr/>
        </p:nvSpPr>
        <p:spPr>
          <a:xfrm>
            <a:off x="548640" y="1783080"/>
            <a:ext cx="3223260" cy="4343400"/>
          </a:xfrm>
          <a:prstGeom prst="rect">
            <a:avLst/>
          </a:prstGeom>
          <a:ln w="15875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6" name="Кути коміксу 02 кут 1"/>
          <p:cNvSpPr/>
          <p:nvPr/>
        </p:nvSpPr>
        <p:spPr>
          <a:xfrm>
            <a:off x="438912" y="167335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7" name="Кути коміксу 02 кут 2"/>
          <p:cNvSpPr/>
          <p:nvPr/>
        </p:nvSpPr>
        <p:spPr>
          <a:xfrm>
            <a:off x="438912" y="167335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8" name="Кути коміксу 02 кут 3"/>
          <p:cNvSpPr/>
          <p:nvPr/>
        </p:nvSpPr>
        <p:spPr>
          <a:xfrm>
            <a:off x="3643884" y="167335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9" name="Кути коміксу 02 кут 4"/>
          <p:cNvSpPr/>
          <p:nvPr/>
        </p:nvSpPr>
        <p:spPr>
          <a:xfrm>
            <a:off x="3881628" y="167335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0" name="Кути коміксу 02 кут 5"/>
          <p:cNvSpPr/>
          <p:nvPr/>
        </p:nvSpPr>
        <p:spPr>
          <a:xfrm>
            <a:off x="438912" y="6236208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1" name="Кути коміксу 02 кут 6"/>
          <p:cNvSpPr/>
          <p:nvPr/>
        </p:nvSpPr>
        <p:spPr>
          <a:xfrm>
            <a:off x="438912" y="5998464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2" name="Кути коміксу 02 кут 7"/>
          <p:cNvSpPr/>
          <p:nvPr/>
        </p:nvSpPr>
        <p:spPr>
          <a:xfrm>
            <a:off x="3643884" y="6236208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3" name="Кути коміксу 02 кут 8"/>
          <p:cNvSpPr/>
          <p:nvPr/>
        </p:nvSpPr>
        <p:spPr>
          <a:xfrm>
            <a:off x="3881628" y="5998464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4" name="Тег 02"/>
          <p:cNvSpPr/>
          <p:nvPr/>
        </p:nvSpPr>
        <p:spPr>
          <a:xfrm>
            <a:off x="685800" y="1920240"/>
            <a:ext cx="1234440" cy="292608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Підпис кадру 02"/>
          <p:cNvSpPr txBox="1"/>
          <p:nvPr/>
        </p:nvSpPr>
        <p:spPr>
          <a:xfrm>
            <a:off x="685800" y="19202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КАДР 02</a:t>
            </a:r>
            <a:endParaRPr lang="en-US" sz="1100" dirty="0"/>
          </a:p>
        </p:txBody>
      </p:sp>
      <p:sp>
        <p:nvSpPr>
          <p:cNvPr id="16" name="Коло Бойовий досвід"/>
          <p:cNvSpPr/>
          <p:nvPr/>
        </p:nvSpPr>
        <p:spPr>
          <a:xfrm>
            <a:off x="4183380" y="1783080"/>
            <a:ext cx="868680" cy="868680"/>
          </a:xfrm>
          <a:prstGeom prst="ellipse">
            <a:avLst/>
          </a:prstGeom>
          <a:solidFill>
            <a:schemeClr val="bg2">
              <a:alpha val="95000"/>
            </a:schemeClr>
          </a:solidFill>
          <a:ln w="28575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pic>
        <p:nvPicPr>
          <p:cNvPr id="17" name="Іконка MdMilitaryTech" descr="Декоративна іконк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255" y="1925955"/>
            <a:ext cx="582930" cy="582930"/>
          </a:xfrm>
          <a:prstGeom prst="rect">
            <a:avLst/>
          </a:prstGeom>
        </p:spPr>
      </p:pic>
      <p:sp>
        <p:nvSpPr>
          <p:cNvPr id="18" name="Складова Бойовий досвід"/>
          <p:cNvSpPr txBox="1"/>
          <p:nvPr/>
        </p:nvSpPr>
        <p:spPr>
          <a:xfrm>
            <a:off x="5326380" y="1837944"/>
            <a:ext cx="63166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Бойовий досвід</a:t>
            </a:r>
            <a:endParaRPr lang="en-US" sz="2200" dirty="0"/>
          </a:p>
        </p:txBody>
      </p:sp>
      <p:sp>
        <p:nvSpPr>
          <p:cNvPr id="19" name="Опис Бойовий досвід"/>
          <p:cNvSpPr txBox="1"/>
          <p:nvPr/>
        </p:nvSpPr>
        <p:spPr>
          <a:xfrm>
            <a:off x="5326380" y="2240280"/>
            <a:ext cx="63166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інструктори з бойовою роботою на FP-2</a:t>
            </a:r>
            <a:endParaRPr lang="en-US" sz="1700" dirty="0"/>
          </a:p>
        </p:txBody>
      </p:sp>
      <p:sp>
        <p:nvSpPr>
          <p:cNvPr id="20" name="Плюс"/>
          <p:cNvSpPr txBox="1"/>
          <p:nvPr/>
        </p:nvSpPr>
        <p:spPr>
          <a:xfrm>
            <a:off x="4183380" y="26517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accent1"/>
                </a:solidFill>
                <a:effectLst>
                  <a:glow rad="32004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2800" dirty="0"/>
          </a:p>
        </p:txBody>
      </p:sp>
      <p:sp>
        <p:nvSpPr>
          <p:cNvPr id="21" name="Коло Навчальна база"/>
          <p:cNvSpPr/>
          <p:nvPr/>
        </p:nvSpPr>
        <p:spPr>
          <a:xfrm>
            <a:off x="4183380" y="3035808"/>
            <a:ext cx="868680" cy="868680"/>
          </a:xfrm>
          <a:prstGeom prst="ellipse">
            <a:avLst/>
          </a:prstGeom>
          <a:solidFill>
            <a:schemeClr val="bg2">
              <a:alpha val="95000"/>
            </a:schemeClr>
          </a:solidFill>
          <a:ln w="28575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pic>
        <p:nvPicPr>
          <p:cNvPr id="22" name="Іконка MdMenuBook" descr="Декоративна іконк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255" y="3178683"/>
            <a:ext cx="582930" cy="582930"/>
          </a:xfrm>
          <a:prstGeom prst="rect">
            <a:avLst/>
          </a:prstGeom>
        </p:spPr>
      </p:pic>
      <p:sp>
        <p:nvSpPr>
          <p:cNvPr id="23" name="Складова Навчальна база"/>
          <p:cNvSpPr txBox="1"/>
          <p:nvPr/>
        </p:nvSpPr>
        <p:spPr>
          <a:xfrm>
            <a:off x="5326380" y="3090672"/>
            <a:ext cx="63166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Навчальна база</a:t>
            </a:r>
            <a:endParaRPr lang="en-US" sz="2200" dirty="0"/>
          </a:p>
        </p:txBody>
      </p:sp>
      <p:sp>
        <p:nvSpPr>
          <p:cNvPr id="24" name="Опис Навчальна база"/>
          <p:cNvSpPr txBox="1"/>
          <p:nvPr/>
        </p:nvSpPr>
        <p:spPr>
          <a:xfrm>
            <a:off x="5326380" y="3493008"/>
            <a:ext cx="63166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якісна програма, що постійно оновлюється</a:t>
            </a:r>
            <a:endParaRPr lang="en-US" sz="1700" dirty="0"/>
          </a:p>
        </p:txBody>
      </p:sp>
      <p:sp>
        <p:nvSpPr>
          <p:cNvPr id="25" name="Плюс"/>
          <p:cNvSpPr txBox="1"/>
          <p:nvPr/>
        </p:nvSpPr>
        <p:spPr>
          <a:xfrm>
            <a:off x="4183380" y="390448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accent1"/>
                </a:solidFill>
                <a:effectLst>
                  <a:glow rad="32004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2800" dirty="0"/>
          </a:p>
        </p:txBody>
      </p:sp>
      <p:sp>
        <p:nvSpPr>
          <p:cNvPr id="26" name="Коло Технічне оснащення"/>
          <p:cNvSpPr/>
          <p:nvPr/>
        </p:nvSpPr>
        <p:spPr>
          <a:xfrm>
            <a:off x="4183380" y="4288536"/>
            <a:ext cx="868680" cy="868680"/>
          </a:xfrm>
          <a:prstGeom prst="ellipse">
            <a:avLst/>
          </a:prstGeom>
          <a:solidFill>
            <a:schemeClr val="bg2">
              <a:alpha val="95000"/>
            </a:schemeClr>
          </a:solidFill>
          <a:ln w="28575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pic>
        <p:nvPicPr>
          <p:cNvPr id="27" name="Іконка MdSportsEsports" descr="Декоративна іконк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255" y="4431411"/>
            <a:ext cx="582930" cy="582930"/>
          </a:xfrm>
          <a:prstGeom prst="rect">
            <a:avLst/>
          </a:prstGeom>
        </p:spPr>
      </p:pic>
      <p:sp>
        <p:nvSpPr>
          <p:cNvPr id="28" name="Складова Технічне оснащення"/>
          <p:cNvSpPr txBox="1"/>
          <p:nvPr/>
        </p:nvSpPr>
        <p:spPr>
          <a:xfrm>
            <a:off x="5326380" y="4343400"/>
            <a:ext cx="63166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Технічне оснащення</a:t>
            </a:r>
            <a:endParaRPr lang="en-US" sz="2200" dirty="0"/>
          </a:p>
        </p:txBody>
      </p:sp>
      <p:sp>
        <p:nvSpPr>
          <p:cNvPr id="29" name="Опис Технічне оснащення"/>
          <p:cNvSpPr txBox="1"/>
          <p:nvPr/>
        </p:nvSpPr>
        <p:spPr>
          <a:xfrm>
            <a:off x="5326380" y="4745736"/>
            <a:ext cx="63166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симулятор, ідентичний бойовому вильоту</a:t>
            </a:r>
            <a:endParaRPr lang="en-US" sz="1700" dirty="0"/>
          </a:p>
        </p:txBody>
      </p:sp>
      <p:sp>
        <p:nvSpPr>
          <p:cNvPr id="30" name="Результат"/>
          <p:cNvSpPr/>
          <p:nvPr/>
        </p:nvSpPr>
        <p:spPr>
          <a:xfrm>
            <a:off x="4183380" y="5340096"/>
            <a:ext cx="7459675" cy="786384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glow rad="68580">
              <a:srgbClr val="58F268">
                <a:alpha val="16000"/>
              </a:srgbClr>
            </a:glow>
          </a:effectLst>
        </p:spPr>
      </p:sp>
      <p:sp>
        <p:nvSpPr>
          <p:cNvPr id="31" name="Дорівнює"/>
          <p:cNvSpPr txBox="1"/>
          <p:nvPr/>
        </p:nvSpPr>
        <p:spPr>
          <a:xfrm>
            <a:off x="4183380" y="5340096"/>
            <a:ext cx="868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4000" dirty="0"/>
          </a:p>
        </p:txBody>
      </p:sp>
      <p:pic>
        <p:nvPicPr>
          <p:cNvPr id="32" name="Іконка результату" descr="Іконка результату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0660" y="5449824"/>
            <a:ext cx="566928" cy="566928"/>
          </a:xfrm>
          <a:prstGeom prst="rect">
            <a:avLst/>
          </a:prstGeom>
        </p:spPr>
      </p:pic>
      <p:sp>
        <p:nvSpPr>
          <p:cNvPr id="33" name="Текст результату"/>
          <p:cNvSpPr txBox="1"/>
          <p:nvPr/>
        </p:nvSpPr>
        <p:spPr>
          <a:xfrm>
            <a:off x="6057900" y="5385816"/>
            <a:ext cx="540227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РЕЗУЛЬТАТ</a:t>
            </a:r>
            <a:endParaRPr lang="en-US" sz="1200" dirty="0"/>
          </a:p>
          <a:p>
            <a:pPr indent="0" marL="0">
              <a:buNone/>
            </a:pPr>
            <a:r>
              <a:rPr lang="en-US" sz="2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Пілот / штурман високого класу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4114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// КРОК ЗА КРОКОМ</a:t>
            </a:r>
            <a:endParaRPr lang="en-US" sz="14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74980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ШЛЯХ НАВЧАННЯ</a:t>
            </a:r>
            <a:endParaRPr lang="en-US" sz="4000" dirty="0"/>
          </a:p>
        </p:txBody>
      </p:sp>
      <p:pic>
        <p:nvPicPr>
          <p:cNvPr id="4" name="Ілюстрація 03" descr="Схема шляху навчання: п’ять кроків від відбору до фахівця високого клас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11094415" cy="3422632"/>
          </a:xfrm>
          <a:prstGeom prst="rect">
            <a:avLst/>
          </a:prstGeom>
        </p:spPr>
      </p:pic>
      <p:sp>
        <p:nvSpPr>
          <p:cNvPr id="5" name="Рамка коміксу 03"/>
          <p:cNvSpPr/>
          <p:nvPr/>
        </p:nvSpPr>
        <p:spPr>
          <a:xfrm>
            <a:off x="548640" y="1737360"/>
            <a:ext cx="11094415" cy="3422632"/>
          </a:xfrm>
          <a:prstGeom prst="rect">
            <a:avLst/>
          </a:prstGeom>
          <a:ln w="15875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6" name="Кути коміксу 03 кут 1"/>
          <p:cNvSpPr/>
          <p:nvPr/>
        </p:nvSpPr>
        <p:spPr>
          <a:xfrm>
            <a:off x="438912" y="162763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7" name="Кути коміксу 03 кут 2"/>
          <p:cNvSpPr/>
          <p:nvPr/>
        </p:nvSpPr>
        <p:spPr>
          <a:xfrm>
            <a:off x="438912" y="162763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8" name="Кути коміксу 03 кут 3"/>
          <p:cNvSpPr/>
          <p:nvPr/>
        </p:nvSpPr>
        <p:spPr>
          <a:xfrm>
            <a:off x="11515039" y="162763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9" name="Кути коміксу 03 кут 4"/>
          <p:cNvSpPr/>
          <p:nvPr/>
        </p:nvSpPr>
        <p:spPr>
          <a:xfrm>
            <a:off x="11752783" y="162763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0" name="Кути коміксу 03 кут 5"/>
          <p:cNvSpPr/>
          <p:nvPr/>
        </p:nvSpPr>
        <p:spPr>
          <a:xfrm>
            <a:off x="438912" y="5269720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1" name="Кути коміксу 03 кут 6"/>
          <p:cNvSpPr/>
          <p:nvPr/>
        </p:nvSpPr>
        <p:spPr>
          <a:xfrm>
            <a:off x="438912" y="5031976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2" name="Кути коміксу 03 кут 7"/>
          <p:cNvSpPr/>
          <p:nvPr/>
        </p:nvSpPr>
        <p:spPr>
          <a:xfrm>
            <a:off x="11515039" y="5269720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3" name="Кути коміксу 03 кут 8"/>
          <p:cNvSpPr/>
          <p:nvPr/>
        </p:nvSpPr>
        <p:spPr>
          <a:xfrm>
            <a:off x="11752783" y="5031976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4" name="Тег 03"/>
          <p:cNvSpPr/>
          <p:nvPr/>
        </p:nvSpPr>
        <p:spPr>
          <a:xfrm>
            <a:off x="685800" y="1874520"/>
            <a:ext cx="1234440" cy="292608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Підпис кадру 03"/>
          <p:cNvSpPr txBox="1"/>
          <p:nvPr/>
        </p:nvSpPr>
        <p:spPr>
          <a:xfrm>
            <a:off x="685800" y="18745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КАДР 03</a:t>
            </a:r>
            <a:endParaRPr lang="en-US" sz="1100" dirty="0"/>
          </a:p>
        </p:txBody>
      </p:sp>
      <p:sp>
        <p:nvSpPr>
          <p:cNvPr id="16" name="Етап 1"/>
          <p:cNvSpPr txBox="1"/>
          <p:nvPr/>
        </p:nvSpPr>
        <p:spPr>
          <a:xfrm>
            <a:off x="502920" y="53885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КРОК 01</a:t>
            </a:r>
            <a:endParaRPr lang="en-US" sz="1200" dirty="0"/>
          </a:p>
        </p:txBody>
      </p:sp>
      <p:sp>
        <p:nvSpPr>
          <p:cNvPr id="17" name="Назва етапу 1"/>
          <p:cNvSpPr txBox="1"/>
          <p:nvPr/>
        </p:nvSpPr>
        <p:spPr>
          <a:xfrm>
            <a:off x="502920" y="5662912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Відбір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 підрозділах</a:t>
            </a:r>
            <a:endParaRPr lang="en-US" sz="1800" dirty="0"/>
          </a:p>
        </p:txBody>
      </p:sp>
      <p:sp>
        <p:nvSpPr>
          <p:cNvPr id="18" name="Етап 2"/>
          <p:cNvSpPr txBox="1"/>
          <p:nvPr/>
        </p:nvSpPr>
        <p:spPr>
          <a:xfrm>
            <a:off x="2512747" y="53885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КРОК 02</a:t>
            </a:r>
            <a:endParaRPr lang="en-US" sz="1200" dirty="0"/>
          </a:p>
        </p:txBody>
      </p:sp>
      <p:sp>
        <p:nvSpPr>
          <p:cNvPr id="19" name="Назва етапу 2"/>
          <p:cNvSpPr txBox="1"/>
          <p:nvPr/>
        </p:nvSpPr>
        <p:spPr>
          <a:xfrm>
            <a:off x="2512747" y="5662912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Освоєння теорії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і практики</a:t>
            </a:r>
            <a:endParaRPr lang="en-US" sz="1800" dirty="0"/>
          </a:p>
        </p:txBody>
      </p:sp>
      <p:sp>
        <p:nvSpPr>
          <p:cNvPr id="20" name="Етап 3"/>
          <p:cNvSpPr txBox="1"/>
          <p:nvPr/>
        </p:nvSpPr>
        <p:spPr>
          <a:xfrm>
            <a:off x="4902074" y="53885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КРОК 03</a:t>
            </a:r>
            <a:endParaRPr lang="en-US" sz="1200" dirty="0"/>
          </a:p>
        </p:txBody>
      </p:sp>
      <p:sp>
        <p:nvSpPr>
          <p:cNvPr id="21" name="Назва етапу 3"/>
          <p:cNvSpPr txBox="1"/>
          <p:nvPr/>
        </p:nvSpPr>
        <p:spPr>
          <a:xfrm>
            <a:off x="4902074" y="5662912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Сертифікація</a:t>
            </a:r>
            <a:endParaRPr lang="en-US" sz="1800" dirty="0"/>
          </a:p>
        </p:txBody>
      </p:sp>
      <p:sp>
        <p:nvSpPr>
          <p:cNvPr id="22" name="Етап 4"/>
          <p:cNvSpPr txBox="1"/>
          <p:nvPr/>
        </p:nvSpPr>
        <p:spPr>
          <a:xfrm>
            <a:off x="6910163" y="53885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КРОК 04</a:t>
            </a:r>
            <a:endParaRPr lang="en-US" sz="1200" dirty="0"/>
          </a:p>
        </p:txBody>
      </p:sp>
      <p:sp>
        <p:nvSpPr>
          <p:cNvPr id="23" name="Назва етапу 4"/>
          <p:cNvSpPr txBox="1"/>
          <p:nvPr/>
        </p:nvSpPr>
        <p:spPr>
          <a:xfrm>
            <a:off x="6910163" y="5662912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Накопичення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досвіду</a:t>
            </a:r>
            <a:endParaRPr lang="en-US" sz="1800" dirty="0"/>
          </a:p>
        </p:txBody>
      </p:sp>
      <p:sp>
        <p:nvSpPr>
          <p:cNvPr id="24" name="Етап 5"/>
          <p:cNvSpPr txBox="1"/>
          <p:nvPr/>
        </p:nvSpPr>
        <p:spPr>
          <a:xfrm>
            <a:off x="9291435" y="53885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КРОК 05</a:t>
            </a:r>
            <a:endParaRPr lang="en-US" sz="1200" dirty="0"/>
          </a:p>
        </p:txBody>
      </p:sp>
      <p:sp>
        <p:nvSpPr>
          <p:cNvPr id="25" name="Назва етапу 5"/>
          <p:cNvSpPr txBox="1"/>
          <p:nvPr/>
        </p:nvSpPr>
        <p:spPr>
          <a:xfrm>
            <a:off x="9291435" y="5662912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Фахівець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високого класу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4114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// СИСТЕМА НАВЧАННЯ</a:t>
            </a:r>
            <a:endParaRPr lang="en-US" sz="14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74980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СКЛАДОВІ НАВЧАННЯ</a:t>
            </a:r>
            <a:endParaRPr lang="en-US" sz="4000" dirty="0"/>
          </a:p>
        </p:txBody>
      </p:sp>
      <p:pic>
        <p:nvPicPr>
          <p:cNvPr id="4" name="Ілюстрація 04" descr="Схема робочого місця оператора: симулятор, пульт керування, зв’язок і маршру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9655" y="1783080"/>
            <a:ext cx="4343400" cy="4343400"/>
          </a:xfrm>
          <a:prstGeom prst="rect">
            <a:avLst/>
          </a:prstGeom>
        </p:spPr>
      </p:pic>
      <p:sp>
        <p:nvSpPr>
          <p:cNvPr id="5" name="Рамка коміксу 04"/>
          <p:cNvSpPr/>
          <p:nvPr/>
        </p:nvSpPr>
        <p:spPr>
          <a:xfrm>
            <a:off x="7299655" y="1783080"/>
            <a:ext cx="4343400" cy="4343400"/>
          </a:xfrm>
          <a:prstGeom prst="rect">
            <a:avLst/>
          </a:prstGeom>
          <a:ln w="15875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6" name="Кути коміксу 04 кут 1"/>
          <p:cNvSpPr/>
          <p:nvPr/>
        </p:nvSpPr>
        <p:spPr>
          <a:xfrm>
            <a:off x="7189927" y="167335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7" name="Кути коміксу 04 кут 2"/>
          <p:cNvSpPr/>
          <p:nvPr/>
        </p:nvSpPr>
        <p:spPr>
          <a:xfrm>
            <a:off x="7189927" y="167335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8" name="Кути коміксу 04 кут 3"/>
          <p:cNvSpPr/>
          <p:nvPr/>
        </p:nvSpPr>
        <p:spPr>
          <a:xfrm>
            <a:off x="11515039" y="167335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9" name="Кути коміксу 04 кут 4"/>
          <p:cNvSpPr/>
          <p:nvPr/>
        </p:nvSpPr>
        <p:spPr>
          <a:xfrm>
            <a:off x="11752783" y="167335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0" name="Кути коміксу 04 кут 5"/>
          <p:cNvSpPr/>
          <p:nvPr/>
        </p:nvSpPr>
        <p:spPr>
          <a:xfrm>
            <a:off x="7189927" y="6236208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1" name="Кути коміксу 04 кут 6"/>
          <p:cNvSpPr/>
          <p:nvPr/>
        </p:nvSpPr>
        <p:spPr>
          <a:xfrm>
            <a:off x="7189927" y="5998464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2" name="Кути коміксу 04 кут 7"/>
          <p:cNvSpPr/>
          <p:nvPr/>
        </p:nvSpPr>
        <p:spPr>
          <a:xfrm>
            <a:off x="11515039" y="6236208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3" name="Кути коміксу 04 кут 8"/>
          <p:cNvSpPr/>
          <p:nvPr/>
        </p:nvSpPr>
        <p:spPr>
          <a:xfrm>
            <a:off x="11752783" y="5998464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4" name="Тег 04"/>
          <p:cNvSpPr/>
          <p:nvPr/>
        </p:nvSpPr>
        <p:spPr>
          <a:xfrm>
            <a:off x="7436815" y="1920240"/>
            <a:ext cx="1234440" cy="292608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Підпис кадру 04"/>
          <p:cNvSpPr txBox="1"/>
          <p:nvPr/>
        </p:nvSpPr>
        <p:spPr>
          <a:xfrm>
            <a:off x="7436815" y="19202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КАДР 04</a:t>
            </a:r>
            <a:endParaRPr lang="en-US" sz="1100" dirty="0"/>
          </a:p>
        </p:txBody>
      </p:sp>
      <p:sp>
        <p:nvSpPr>
          <p:cNvPr id="16" name="Коло Навчальна програма"/>
          <p:cNvSpPr/>
          <p:nvPr/>
        </p:nvSpPr>
        <p:spPr>
          <a:xfrm>
            <a:off x="548640" y="1810512"/>
            <a:ext cx="676656" cy="6766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glow rad="68580">
              <a:srgbClr val="58F268">
                <a:alpha val="16000"/>
              </a:srgbClr>
            </a:glow>
          </a:effectLst>
        </p:spPr>
      </p:sp>
      <p:pic>
        <p:nvPicPr>
          <p:cNvPr id="17" name="Іконка MdMenuBook" descr="Декоративна іконк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2024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463040" y="17830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19" name="Назва Навчальна програма"/>
          <p:cNvSpPr txBox="1"/>
          <p:nvPr/>
        </p:nvSpPr>
        <p:spPr>
          <a:xfrm>
            <a:off x="2011680" y="1783080"/>
            <a:ext cx="4830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Навчальна програма</a:t>
            </a:r>
            <a:endParaRPr lang="en-US" sz="2100" dirty="0"/>
          </a:p>
        </p:txBody>
      </p:sp>
      <p:sp>
        <p:nvSpPr>
          <p:cNvPr id="20" name="Опис Навчальна програма"/>
          <p:cNvSpPr txBox="1"/>
          <p:nvPr/>
        </p:nvSpPr>
        <p:spPr>
          <a:xfrm>
            <a:off x="1463040" y="2194560"/>
            <a:ext cx="5379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написана співробітниками з досвідом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бойової роботи на FP-2</a:t>
            </a:r>
            <a:endParaRPr lang="en-US" sz="1600" dirty="0"/>
          </a:p>
        </p:txBody>
      </p:sp>
      <p:sp>
        <p:nvSpPr>
          <p:cNvPr id="21" name="Коло Симулятор польотів"/>
          <p:cNvSpPr/>
          <p:nvPr/>
        </p:nvSpPr>
        <p:spPr>
          <a:xfrm>
            <a:off x="548640" y="2935224"/>
            <a:ext cx="676656" cy="6766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glow rad="68580">
              <a:srgbClr val="58F268">
                <a:alpha val="16000"/>
              </a:srgbClr>
            </a:glow>
          </a:effectLst>
        </p:spPr>
      </p:sp>
      <p:pic>
        <p:nvPicPr>
          <p:cNvPr id="22" name="Іконка FaDesktop" descr="Декоративна іконк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044952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463040" y="290779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24" name="Назва Симулятор польотів"/>
          <p:cNvSpPr txBox="1"/>
          <p:nvPr/>
        </p:nvSpPr>
        <p:spPr>
          <a:xfrm>
            <a:off x="2011680" y="2907792"/>
            <a:ext cx="4830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Симулятор польотів</a:t>
            </a:r>
            <a:endParaRPr lang="en-US" sz="2100" dirty="0"/>
          </a:p>
        </p:txBody>
      </p:sp>
      <p:sp>
        <p:nvSpPr>
          <p:cNvPr id="25" name="Опис Симулятор польотів"/>
          <p:cNvSpPr txBox="1"/>
          <p:nvPr/>
        </p:nvSpPr>
        <p:spPr>
          <a:xfrm>
            <a:off x="1463040" y="3319272"/>
            <a:ext cx="5379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повністю відтворює реальну бойову місію</a:t>
            </a:r>
            <a:endParaRPr lang="en-US" sz="1600" dirty="0"/>
          </a:p>
        </p:txBody>
      </p:sp>
      <p:sp>
        <p:nvSpPr>
          <p:cNvPr id="26" name="Коло Реальна місія"/>
          <p:cNvSpPr/>
          <p:nvPr/>
        </p:nvSpPr>
        <p:spPr>
          <a:xfrm>
            <a:off x="548640" y="4059936"/>
            <a:ext cx="676656" cy="6766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glow rad="68580">
              <a:srgbClr val="58F268">
                <a:alpha val="16000"/>
              </a:srgbClr>
            </a:glow>
          </a:effectLst>
        </p:spPr>
      </p:sp>
      <p:pic>
        <p:nvPicPr>
          <p:cNvPr id="27" name="Іконка GiBinoculars" descr="Декоративна іконк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169664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463040" y="40325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29" name="Назва Реальна місія"/>
          <p:cNvSpPr txBox="1"/>
          <p:nvPr/>
        </p:nvSpPr>
        <p:spPr>
          <a:xfrm>
            <a:off x="2011680" y="4032504"/>
            <a:ext cx="4830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Реальна місія</a:t>
            </a:r>
            <a:endParaRPr lang="en-US" sz="2100" dirty="0"/>
          </a:p>
        </p:txBody>
      </p:sp>
      <p:sp>
        <p:nvSpPr>
          <p:cNvPr id="30" name="Опис Реальна місія"/>
          <p:cNvSpPr txBox="1"/>
          <p:nvPr/>
        </p:nvSpPr>
        <p:spPr>
          <a:xfrm>
            <a:off x="1463040" y="4443984"/>
            <a:ext cx="5379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участь у реальній місії як спостерігач</a:t>
            </a:r>
            <a:endParaRPr lang="en-US" sz="1600" dirty="0"/>
          </a:p>
        </p:txBody>
      </p:sp>
      <p:sp>
        <p:nvSpPr>
          <p:cNvPr id="31" name="Коло Жива комунікація"/>
          <p:cNvSpPr/>
          <p:nvPr/>
        </p:nvSpPr>
        <p:spPr>
          <a:xfrm>
            <a:off x="548640" y="5184648"/>
            <a:ext cx="676656" cy="6766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glow rad="68580">
              <a:srgbClr val="58F268">
                <a:alpha val="16000"/>
              </a:srgbClr>
            </a:glow>
          </a:effectLst>
        </p:spPr>
      </p:sp>
      <p:pic>
        <p:nvPicPr>
          <p:cNvPr id="32" name="Іконка MdRecordVoiceOver" descr="Декоративна іконка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5294376"/>
            <a:ext cx="457200" cy="45720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463040" y="515721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34" name="Назва Жива комунікація"/>
          <p:cNvSpPr txBox="1"/>
          <p:nvPr/>
        </p:nvSpPr>
        <p:spPr>
          <a:xfrm>
            <a:off x="2011680" y="5157216"/>
            <a:ext cx="4830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Жива комунікація</a:t>
            </a:r>
            <a:endParaRPr lang="en-US" sz="2100" dirty="0"/>
          </a:p>
        </p:txBody>
      </p:sp>
      <p:sp>
        <p:nvSpPr>
          <p:cNvPr id="35" name="Опис Жива комунікація"/>
          <p:cNvSpPr txBox="1"/>
          <p:nvPr/>
        </p:nvSpPr>
        <p:spPr>
          <a:xfrm>
            <a:off x="1463040" y="5568696"/>
            <a:ext cx="5379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з досвідченими пілотами і штурманами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4114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// ТЕХНІЧНЕ ОСНАЩЕННЯ</a:t>
            </a:r>
            <a:endParaRPr lang="en-US" sz="14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74980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ПЕРЕВАГИ СИМУЛЯТОРА</a:t>
            </a:r>
            <a:endParaRPr lang="en-US" sz="4000" dirty="0"/>
          </a:p>
        </p:txBody>
      </p:sp>
      <p:sp>
        <p:nvSpPr>
          <p:cNvPr id="4" name="Гасло"/>
          <p:cNvSpPr txBox="1"/>
          <p:nvPr/>
        </p:nvSpPr>
        <p:spPr>
          <a:xfrm>
            <a:off x="548640" y="173736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chemeClr val="accent1"/>
                </a:solidFill>
                <a:effectLst>
                  <a:glow rad="36576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Тренуємось так,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chemeClr val="accent1"/>
                </a:solidFill>
                <a:effectLst>
                  <a:glow rad="36576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як воюємо</a:t>
            </a:r>
            <a:endParaRPr lang="en-US" sz="3200" dirty="0"/>
          </a:p>
        </p:txBody>
      </p:sp>
      <p:sp>
        <p:nvSpPr>
          <p:cNvPr id="5" name="Коло Максимальна реалістичність"/>
          <p:cNvSpPr/>
          <p:nvPr/>
        </p:nvSpPr>
        <p:spPr>
          <a:xfrm>
            <a:off x="548640" y="3035808"/>
            <a:ext cx="621792" cy="621792"/>
          </a:xfrm>
          <a:prstGeom prst="ellipse">
            <a:avLst/>
          </a:prstGeom>
          <a:solidFill>
            <a:schemeClr val="bg2">
              <a:alpha val="95000"/>
            </a:schemeClr>
          </a:solidFill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pic>
        <p:nvPicPr>
          <p:cNvPr id="6" name="Іконка GiRadarSweep" descr="Декоративна іконк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366" y="3129534"/>
            <a:ext cx="434340" cy="434340"/>
          </a:xfrm>
          <a:prstGeom prst="rect">
            <a:avLst/>
          </a:prstGeom>
        </p:spPr>
      </p:pic>
      <p:sp>
        <p:nvSpPr>
          <p:cNvPr id="7" name="Перевага 1"/>
          <p:cNvSpPr txBox="1"/>
          <p:nvPr/>
        </p:nvSpPr>
        <p:spPr>
          <a:xfrm>
            <a:off x="1371600" y="30175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Максимальна реалістичність</a:t>
            </a:r>
            <a:endParaRPr lang="en-US" sz="1900" dirty="0"/>
          </a:p>
        </p:txBody>
      </p:sp>
      <p:sp>
        <p:nvSpPr>
          <p:cNvPr id="8" name="Опис переваги 1"/>
          <p:cNvSpPr txBox="1"/>
          <p:nvPr/>
        </p:nvSpPr>
        <p:spPr>
          <a:xfrm>
            <a:off x="1371600" y="3383280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включно з можливими перешкодами під час місії</a:t>
            </a:r>
            <a:endParaRPr lang="en-US" sz="1600" dirty="0"/>
          </a:p>
        </p:txBody>
      </p:sp>
      <p:sp>
        <p:nvSpPr>
          <p:cNvPr id="9" name="Коло Ідентичне керування"/>
          <p:cNvSpPr/>
          <p:nvPr/>
        </p:nvSpPr>
        <p:spPr>
          <a:xfrm>
            <a:off x="548640" y="4059936"/>
            <a:ext cx="621792" cy="621792"/>
          </a:xfrm>
          <a:prstGeom prst="ellipse">
            <a:avLst/>
          </a:prstGeom>
          <a:solidFill>
            <a:schemeClr val="bg2">
              <a:alpha val="95000"/>
            </a:schemeClr>
          </a:solidFill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pic>
        <p:nvPicPr>
          <p:cNvPr id="10" name="Іконка GiJoystick" descr="Декоративна іконк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66" y="4153662"/>
            <a:ext cx="434340" cy="434340"/>
          </a:xfrm>
          <a:prstGeom prst="rect">
            <a:avLst/>
          </a:prstGeom>
        </p:spPr>
      </p:pic>
      <p:sp>
        <p:nvSpPr>
          <p:cNvPr id="11" name="Перевага 2"/>
          <p:cNvSpPr txBox="1"/>
          <p:nvPr/>
        </p:nvSpPr>
        <p:spPr>
          <a:xfrm>
            <a:off x="1371600" y="404164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Ідентичне керування</a:t>
            </a:r>
            <a:endParaRPr lang="en-US" sz="1900" dirty="0"/>
          </a:p>
        </p:txBody>
      </p:sp>
      <p:sp>
        <p:nvSpPr>
          <p:cNvPr id="12" name="Опис переваги 2"/>
          <p:cNvSpPr txBox="1"/>
          <p:nvPr/>
        </p:nvSpPr>
        <p:spPr>
          <a:xfrm>
            <a:off x="1371600" y="4407408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контролер і робоче місце — як у бойовому вильоті</a:t>
            </a:r>
            <a:endParaRPr lang="en-US" sz="1600" dirty="0"/>
          </a:p>
        </p:txBody>
      </p:sp>
      <p:sp>
        <p:nvSpPr>
          <p:cNvPr id="13" name="Коло Ті ж програми планування"/>
          <p:cNvSpPr/>
          <p:nvPr/>
        </p:nvSpPr>
        <p:spPr>
          <a:xfrm>
            <a:off x="548640" y="5084064"/>
            <a:ext cx="621792" cy="621792"/>
          </a:xfrm>
          <a:prstGeom prst="ellipse">
            <a:avLst/>
          </a:prstGeom>
          <a:solidFill>
            <a:schemeClr val="bg2">
              <a:alpha val="95000"/>
            </a:schemeClr>
          </a:solidFill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pic>
        <p:nvPicPr>
          <p:cNvPr id="14" name="Іконка FaRoute" descr="Декоративна іконк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" y="5177790"/>
            <a:ext cx="434340" cy="434340"/>
          </a:xfrm>
          <a:prstGeom prst="rect">
            <a:avLst/>
          </a:prstGeom>
        </p:spPr>
      </p:pic>
      <p:sp>
        <p:nvSpPr>
          <p:cNvPr id="15" name="Перевага 3"/>
          <p:cNvSpPr txBox="1"/>
          <p:nvPr/>
        </p:nvSpPr>
        <p:spPr>
          <a:xfrm>
            <a:off x="1371600" y="506577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Ті ж програми планування</a:t>
            </a:r>
            <a:endParaRPr lang="en-US" sz="1900" dirty="0"/>
          </a:p>
        </p:txBody>
      </p:sp>
      <p:sp>
        <p:nvSpPr>
          <p:cNvPr id="16" name="Опис переваги 3"/>
          <p:cNvSpPr txBox="1"/>
          <p:nvPr/>
        </p:nvSpPr>
        <p:spPr>
          <a:xfrm>
            <a:off x="1371600" y="5431536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що й для реальних бойових місій</a:t>
            </a:r>
            <a:endParaRPr lang="en-US" sz="1600" dirty="0"/>
          </a:p>
        </p:txBody>
      </p:sp>
      <p:pic>
        <p:nvPicPr>
          <p:cNvPr id="17" name="Скриншот симулятора" descr="Вигляд оператора в симуляторі FP-2: HUD, горизонт, телеметрія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783080"/>
            <a:ext cx="6035040" cy="3621811"/>
          </a:xfrm>
          <a:prstGeom prst="rect">
            <a:avLst/>
          </a:prstGeom>
        </p:spPr>
      </p:pic>
      <p:sp>
        <p:nvSpPr>
          <p:cNvPr id="18" name="Рамка скриншота кут 1"/>
          <p:cNvSpPr/>
          <p:nvPr/>
        </p:nvSpPr>
        <p:spPr>
          <a:xfrm>
            <a:off x="5376672" y="1673352"/>
            <a:ext cx="27432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9" name="Рамка скриншота кут 2"/>
          <p:cNvSpPr/>
          <p:nvPr/>
        </p:nvSpPr>
        <p:spPr>
          <a:xfrm>
            <a:off x="5376672" y="1673352"/>
            <a:ext cx="0" cy="27432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0" name="Рамка скриншота кут 3"/>
          <p:cNvSpPr/>
          <p:nvPr/>
        </p:nvSpPr>
        <p:spPr>
          <a:xfrm>
            <a:off x="11356848" y="1673352"/>
            <a:ext cx="27432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1" name="Рамка скриншота кут 4"/>
          <p:cNvSpPr/>
          <p:nvPr/>
        </p:nvSpPr>
        <p:spPr>
          <a:xfrm>
            <a:off x="11631168" y="1673352"/>
            <a:ext cx="0" cy="27432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2" name="Рамка скриншота кут 5"/>
          <p:cNvSpPr/>
          <p:nvPr/>
        </p:nvSpPr>
        <p:spPr>
          <a:xfrm>
            <a:off x="5376672" y="5514619"/>
            <a:ext cx="27432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3" name="Рамка скриншота кут 6"/>
          <p:cNvSpPr/>
          <p:nvPr/>
        </p:nvSpPr>
        <p:spPr>
          <a:xfrm>
            <a:off x="5376672" y="5240299"/>
            <a:ext cx="0" cy="27432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4" name="Рамка скриншота кут 7"/>
          <p:cNvSpPr/>
          <p:nvPr/>
        </p:nvSpPr>
        <p:spPr>
          <a:xfrm>
            <a:off x="11356848" y="5514619"/>
            <a:ext cx="27432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5" name="Рамка скриншота кут 8"/>
          <p:cNvSpPr/>
          <p:nvPr/>
        </p:nvSpPr>
        <p:spPr>
          <a:xfrm>
            <a:off x="11631168" y="5240299"/>
            <a:ext cx="0" cy="27432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6" name="Підпис скриншота"/>
          <p:cNvSpPr txBox="1"/>
          <p:nvPr/>
        </p:nvSpPr>
        <p:spPr>
          <a:xfrm>
            <a:off x="5486400" y="5606059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ВИГЛЯД ОПЕРАТОРА В СИМУЛЯТОРІ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4114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// МАСШТАБУВАННЯ</a:t>
            </a:r>
            <a:endParaRPr lang="en-US" sz="14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74980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МОЖЛИВОСТІ РОЗВИТКУ ШКОЛИ</a:t>
            </a:r>
            <a:endParaRPr lang="en-US" sz="4000" dirty="0"/>
          </a:p>
        </p:txBody>
      </p:sp>
      <p:sp>
        <p:nvSpPr>
          <p:cNvPr id="4" name="Головна теза"/>
          <p:cNvSpPr txBox="1"/>
          <p:nvPr/>
        </p:nvSpPr>
        <p:spPr>
          <a:xfrm>
            <a:off x="548640" y="173736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Модель школи придатна до масштабування і адаптації під поточні потреби Центру</a:t>
            </a:r>
            <a:endParaRPr lang="en-US" sz="2200" dirty="0"/>
          </a:p>
        </p:txBody>
      </p:sp>
      <p:sp>
        <p:nvSpPr>
          <p:cNvPr id="5" name="Коло Нові навчальні пункти"/>
          <p:cNvSpPr/>
          <p:nvPr/>
        </p:nvSpPr>
        <p:spPr>
          <a:xfrm>
            <a:off x="548640" y="2990088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glow rad="68580">
              <a:srgbClr val="58F268">
                <a:alpha val="16000"/>
              </a:srgbClr>
            </a:glow>
          </a:effectLst>
        </p:spPr>
      </p:sp>
      <p:pic>
        <p:nvPicPr>
          <p:cNvPr id="6" name="Іконка MdAddLocationAlt" descr="Декоративна іконк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3136392"/>
            <a:ext cx="393192" cy="393192"/>
          </a:xfrm>
          <a:prstGeom prst="rect">
            <a:avLst/>
          </a:prstGeom>
        </p:spPr>
      </p:pic>
      <p:sp>
        <p:nvSpPr>
          <p:cNvPr id="7" name="Напрям 1"/>
          <p:cNvSpPr txBox="1"/>
          <p:nvPr/>
        </p:nvSpPr>
        <p:spPr>
          <a:xfrm>
            <a:off x="1463040" y="2971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Нові навчальні пункти</a:t>
            </a:r>
            <a:endParaRPr lang="en-US" sz="2000" dirty="0"/>
          </a:p>
        </p:txBody>
      </p:sp>
      <p:sp>
        <p:nvSpPr>
          <p:cNvPr id="8" name="Опис напряму 1"/>
          <p:cNvSpPr txBox="1"/>
          <p:nvPr/>
        </p:nvSpPr>
        <p:spPr>
          <a:xfrm>
            <a:off x="1463040" y="335584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можливе розгортання в інших населених пунктах</a:t>
            </a:r>
            <a:endParaRPr lang="en-US" sz="1700" dirty="0"/>
          </a:p>
        </p:txBody>
      </p:sp>
      <p:sp>
        <p:nvSpPr>
          <p:cNvPr id="9" name="Коло Будь-які БпЛА типу «крило»"/>
          <p:cNvSpPr/>
          <p:nvPr/>
        </p:nvSpPr>
        <p:spPr>
          <a:xfrm>
            <a:off x="548640" y="4014216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glow rad="68580">
              <a:srgbClr val="58F268">
                <a:alpha val="16000"/>
              </a:srgbClr>
            </a:glow>
          </a:effectLst>
        </p:spPr>
      </p:sp>
      <p:pic>
        <p:nvPicPr>
          <p:cNvPr id="10" name="Іконка GiDeliveryDrone" descr="Декоративна іконк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4160520"/>
            <a:ext cx="393192" cy="393192"/>
          </a:xfrm>
          <a:prstGeom prst="rect">
            <a:avLst/>
          </a:prstGeom>
        </p:spPr>
      </p:pic>
      <p:sp>
        <p:nvSpPr>
          <p:cNvPr id="11" name="Напрям 2"/>
          <p:cNvSpPr txBox="1"/>
          <p:nvPr/>
        </p:nvSpPr>
        <p:spPr>
          <a:xfrm>
            <a:off x="1463040" y="3995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Будь-які БпЛА типу «крило»</a:t>
            </a:r>
            <a:endParaRPr lang="en-US" sz="2000" dirty="0"/>
          </a:p>
        </p:txBody>
      </p:sp>
      <p:sp>
        <p:nvSpPr>
          <p:cNvPr id="12" name="Опис напряму 2"/>
          <p:cNvSpPr txBox="1"/>
          <p:nvPr/>
        </p:nvSpPr>
        <p:spPr>
          <a:xfrm>
            <a:off x="1463040" y="437997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симулятор придатний для тренувань на них</a:t>
            </a:r>
            <a:endParaRPr lang="en-US" sz="1700" dirty="0"/>
          </a:p>
        </p:txBody>
      </p:sp>
      <p:sp>
        <p:nvSpPr>
          <p:cNvPr id="13" name="Коло Програма, що розвивається"/>
          <p:cNvSpPr/>
          <p:nvPr/>
        </p:nvSpPr>
        <p:spPr>
          <a:xfrm>
            <a:off x="548640" y="5038344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glow rad="68580">
              <a:srgbClr val="58F268">
                <a:alpha val="16000"/>
              </a:srgbClr>
            </a:glow>
          </a:effectLst>
        </p:spPr>
      </p:sp>
      <p:pic>
        <p:nvPicPr>
          <p:cNvPr id="14" name="Іконка MdAutorenew" descr="Декоративна іконк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184648"/>
            <a:ext cx="393192" cy="393192"/>
          </a:xfrm>
          <a:prstGeom prst="rect">
            <a:avLst/>
          </a:prstGeom>
        </p:spPr>
      </p:pic>
      <p:sp>
        <p:nvSpPr>
          <p:cNvPr id="15" name="Напрям 3"/>
          <p:cNvSpPr txBox="1"/>
          <p:nvPr/>
        </p:nvSpPr>
        <p:spPr>
          <a:xfrm>
            <a:off x="1463040" y="502005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Програма, що розвивається</a:t>
            </a:r>
            <a:endParaRPr lang="en-US" sz="2000" dirty="0"/>
          </a:p>
        </p:txBody>
      </p:sp>
      <p:sp>
        <p:nvSpPr>
          <p:cNvPr id="16" name="Опис напряму 3"/>
          <p:cNvSpPr txBox="1"/>
          <p:nvPr/>
        </p:nvSpPr>
        <p:spPr>
          <a:xfrm>
            <a:off x="1463040" y="540410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оперативно оновлюється й адаптується</a:t>
            </a:r>
            <a:endParaRPr lang="en-US" sz="1700" dirty="0"/>
          </a:p>
        </p:txBody>
      </p:sp>
      <p:pic>
        <p:nvPicPr>
          <p:cNvPr id="17" name="Ілюстрація 05" descr="Схема масштабування: центр і нові навчальні пункти, група БпЛА типу «крило»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9795" y="1783080"/>
            <a:ext cx="3223260" cy="4343400"/>
          </a:xfrm>
          <a:prstGeom prst="rect">
            <a:avLst/>
          </a:prstGeom>
        </p:spPr>
      </p:pic>
      <p:sp>
        <p:nvSpPr>
          <p:cNvPr id="18" name="Рамка коміксу 05"/>
          <p:cNvSpPr/>
          <p:nvPr/>
        </p:nvSpPr>
        <p:spPr>
          <a:xfrm>
            <a:off x="8419795" y="1783080"/>
            <a:ext cx="3223260" cy="4343400"/>
          </a:xfrm>
          <a:prstGeom prst="rect">
            <a:avLst/>
          </a:prstGeom>
          <a:ln w="15875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9" name="Кути коміксу 05 кут 1"/>
          <p:cNvSpPr/>
          <p:nvPr/>
        </p:nvSpPr>
        <p:spPr>
          <a:xfrm>
            <a:off x="8310067" y="167335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0" name="Кути коміксу 05 кут 2"/>
          <p:cNvSpPr/>
          <p:nvPr/>
        </p:nvSpPr>
        <p:spPr>
          <a:xfrm>
            <a:off x="8310067" y="167335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1" name="Кути коміксу 05 кут 3"/>
          <p:cNvSpPr/>
          <p:nvPr/>
        </p:nvSpPr>
        <p:spPr>
          <a:xfrm>
            <a:off x="11515039" y="167335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2" name="Кути коміксу 05 кут 4"/>
          <p:cNvSpPr/>
          <p:nvPr/>
        </p:nvSpPr>
        <p:spPr>
          <a:xfrm>
            <a:off x="11752783" y="167335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3" name="Кути коміксу 05 кут 5"/>
          <p:cNvSpPr/>
          <p:nvPr/>
        </p:nvSpPr>
        <p:spPr>
          <a:xfrm>
            <a:off x="8310067" y="6236208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4" name="Кути коміксу 05 кут 6"/>
          <p:cNvSpPr/>
          <p:nvPr/>
        </p:nvSpPr>
        <p:spPr>
          <a:xfrm>
            <a:off x="8310067" y="5998464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5" name="Кути коміксу 05 кут 7"/>
          <p:cNvSpPr/>
          <p:nvPr/>
        </p:nvSpPr>
        <p:spPr>
          <a:xfrm>
            <a:off x="11515039" y="6236208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6" name="Кути коміксу 05 кут 8"/>
          <p:cNvSpPr/>
          <p:nvPr/>
        </p:nvSpPr>
        <p:spPr>
          <a:xfrm>
            <a:off x="11752783" y="5998464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7" name="Тег 05"/>
          <p:cNvSpPr/>
          <p:nvPr/>
        </p:nvSpPr>
        <p:spPr>
          <a:xfrm>
            <a:off x="8556955" y="1920240"/>
            <a:ext cx="1234440" cy="292608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8" name="Підпис кадру 05"/>
          <p:cNvSpPr txBox="1"/>
          <p:nvPr/>
        </p:nvSpPr>
        <p:spPr>
          <a:xfrm>
            <a:off x="8556955" y="19202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КАДР 05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14400" y="219456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Вкладення в школу —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dirty="0">
                <a:solidFill>
                  <a:schemeClr val="accent1"/>
                </a:solidFill>
                <a:effectLst>
                  <a:glow rad="43434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це результат кожної бойової місії</a:t>
            </a:r>
            <a:endParaRPr lang="en-US" sz="3800" dirty="0"/>
          </a:p>
        </p:txBody>
      </p:sp>
      <p:sp>
        <p:nvSpPr>
          <p:cNvPr id="3" name="Підсумок 1"/>
          <p:cNvSpPr/>
          <p:nvPr/>
        </p:nvSpPr>
        <p:spPr>
          <a:xfrm>
            <a:off x="838048" y="3794760"/>
            <a:ext cx="3291840" cy="1417320"/>
          </a:xfrm>
          <a:prstGeom prst="rect">
            <a:avLst/>
          </a:prstGeom>
          <a:solidFill>
            <a:schemeClr val="bg1">
              <a:alpha val="75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" name="Підсумок 1 кут 1"/>
          <p:cNvSpPr/>
          <p:nvPr/>
        </p:nvSpPr>
        <p:spPr>
          <a:xfrm>
            <a:off x="838048" y="379476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5" name="Підсумок 1 кут 2"/>
          <p:cNvSpPr/>
          <p:nvPr/>
        </p:nvSpPr>
        <p:spPr>
          <a:xfrm>
            <a:off x="838048" y="3794760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6" name="Підсумок 1 кут 3"/>
          <p:cNvSpPr/>
          <p:nvPr/>
        </p:nvSpPr>
        <p:spPr>
          <a:xfrm>
            <a:off x="3965296" y="379476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7" name="Підсумок 1 кут 4"/>
          <p:cNvSpPr/>
          <p:nvPr/>
        </p:nvSpPr>
        <p:spPr>
          <a:xfrm>
            <a:off x="4129888" y="3794760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8" name="Підсумок 1 кут 5"/>
          <p:cNvSpPr/>
          <p:nvPr/>
        </p:nvSpPr>
        <p:spPr>
          <a:xfrm>
            <a:off x="838048" y="521208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9" name="Підсумок 1 кут 6"/>
          <p:cNvSpPr/>
          <p:nvPr/>
        </p:nvSpPr>
        <p:spPr>
          <a:xfrm>
            <a:off x="838048" y="5047488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0" name="Підсумок 1 кут 7"/>
          <p:cNvSpPr/>
          <p:nvPr/>
        </p:nvSpPr>
        <p:spPr>
          <a:xfrm>
            <a:off x="3965296" y="521208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1" name="Підсумок 1 кут 8"/>
          <p:cNvSpPr/>
          <p:nvPr/>
        </p:nvSpPr>
        <p:spPr>
          <a:xfrm>
            <a:off x="4129888" y="5047488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pic>
        <p:nvPicPr>
          <p:cNvPr id="12" name="Іконка MdGroups" descr="Декоративна іконк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9643" y="3933063"/>
            <a:ext cx="628650" cy="628650"/>
          </a:xfrm>
          <a:prstGeom prst="rect">
            <a:avLst/>
          </a:prstGeom>
        </p:spPr>
      </p:pic>
      <p:sp>
        <p:nvSpPr>
          <p:cNvPr id="13" name="Текст підсумку 1"/>
          <p:cNvSpPr txBox="1"/>
          <p:nvPr/>
        </p:nvSpPr>
        <p:spPr>
          <a:xfrm>
            <a:off x="1020928" y="4572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Більше підготовлених екіпажів</a:t>
            </a:r>
            <a:endParaRPr lang="en-US" sz="1700" dirty="0"/>
          </a:p>
        </p:txBody>
      </p:sp>
      <p:sp>
        <p:nvSpPr>
          <p:cNvPr id="14" name="Підсумок 2"/>
          <p:cNvSpPr/>
          <p:nvPr/>
        </p:nvSpPr>
        <p:spPr>
          <a:xfrm>
            <a:off x="4449928" y="3794760"/>
            <a:ext cx="3291840" cy="1417320"/>
          </a:xfrm>
          <a:prstGeom prst="rect">
            <a:avLst/>
          </a:prstGeom>
          <a:solidFill>
            <a:schemeClr val="bg1">
              <a:alpha val="75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5" name="Підсумок 2 кут 1"/>
          <p:cNvSpPr/>
          <p:nvPr/>
        </p:nvSpPr>
        <p:spPr>
          <a:xfrm>
            <a:off x="4449928" y="379476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6" name="Підсумок 2 кут 2"/>
          <p:cNvSpPr/>
          <p:nvPr/>
        </p:nvSpPr>
        <p:spPr>
          <a:xfrm>
            <a:off x="4449928" y="3794760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7" name="Підсумок 2 кут 3"/>
          <p:cNvSpPr/>
          <p:nvPr/>
        </p:nvSpPr>
        <p:spPr>
          <a:xfrm>
            <a:off x="7577176" y="379476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8" name="Підсумок 2 кут 4"/>
          <p:cNvSpPr/>
          <p:nvPr/>
        </p:nvSpPr>
        <p:spPr>
          <a:xfrm>
            <a:off x="7741768" y="3794760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9" name="Підсумок 2 кут 5"/>
          <p:cNvSpPr/>
          <p:nvPr/>
        </p:nvSpPr>
        <p:spPr>
          <a:xfrm>
            <a:off x="4449928" y="521208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0" name="Підсумок 2 кут 6"/>
          <p:cNvSpPr/>
          <p:nvPr/>
        </p:nvSpPr>
        <p:spPr>
          <a:xfrm>
            <a:off x="4449928" y="5047488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1" name="Підсумок 2 кут 7"/>
          <p:cNvSpPr/>
          <p:nvPr/>
        </p:nvSpPr>
        <p:spPr>
          <a:xfrm>
            <a:off x="7577176" y="521208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2" name="Підсумок 2 кут 8"/>
          <p:cNvSpPr/>
          <p:nvPr/>
        </p:nvSpPr>
        <p:spPr>
          <a:xfrm>
            <a:off x="7741768" y="5047488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pic>
        <p:nvPicPr>
          <p:cNvPr id="23" name="Іконка MdSportsEsports" descr="Декоративна іконк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523" y="3933063"/>
            <a:ext cx="628650" cy="628650"/>
          </a:xfrm>
          <a:prstGeom prst="rect">
            <a:avLst/>
          </a:prstGeom>
        </p:spPr>
      </p:pic>
      <p:sp>
        <p:nvSpPr>
          <p:cNvPr id="24" name="Текст підсумку 2"/>
          <p:cNvSpPr txBox="1"/>
          <p:nvPr/>
        </p:nvSpPr>
        <p:spPr>
          <a:xfrm>
            <a:off x="4632808" y="4572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Симулятор, ідентичний бойовому вильоту</a:t>
            </a:r>
            <a:endParaRPr lang="en-US" sz="1700" dirty="0"/>
          </a:p>
        </p:txBody>
      </p:sp>
      <p:sp>
        <p:nvSpPr>
          <p:cNvPr id="25" name="Підсумок 3"/>
          <p:cNvSpPr/>
          <p:nvPr/>
        </p:nvSpPr>
        <p:spPr>
          <a:xfrm>
            <a:off x="8061808" y="3794760"/>
            <a:ext cx="3291840" cy="1417320"/>
          </a:xfrm>
          <a:prstGeom prst="rect">
            <a:avLst/>
          </a:prstGeom>
          <a:solidFill>
            <a:schemeClr val="bg1">
              <a:alpha val="75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6" name="Підсумок 3 кут 1"/>
          <p:cNvSpPr/>
          <p:nvPr/>
        </p:nvSpPr>
        <p:spPr>
          <a:xfrm>
            <a:off x="8061808" y="379476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7" name="Підсумок 3 кут 2"/>
          <p:cNvSpPr/>
          <p:nvPr/>
        </p:nvSpPr>
        <p:spPr>
          <a:xfrm>
            <a:off x="8061808" y="3794760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8" name="Підсумок 3 кут 3"/>
          <p:cNvSpPr/>
          <p:nvPr/>
        </p:nvSpPr>
        <p:spPr>
          <a:xfrm>
            <a:off x="11189056" y="379476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9" name="Підсумок 3 кут 4"/>
          <p:cNvSpPr/>
          <p:nvPr/>
        </p:nvSpPr>
        <p:spPr>
          <a:xfrm>
            <a:off x="11353648" y="3794760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30" name="Підсумок 3 кут 5"/>
          <p:cNvSpPr/>
          <p:nvPr/>
        </p:nvSpPr>
        <p:spPr>
          <a:xfrm>
            <a:off x="8061808" y="521208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31" name="Підсумок 3 кут 6"/>
          <p:cNvSpPr/>
          <p:nvPr/>
        </p:nvSpPr>
        <p:spPr>
          <a:xfrm>
            <a:off x="8061808" y="5047488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32" name="Підсумок 3 кут 7"/>
          <p:cNvSpPr/>
          <p:nvPr/>
        </p:nvSpPr>
        <p:spPr>
          <a:xfrm>
            <a:off x="11189056" y="521208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33" name="Підсумок 3 кут 8"/>
          <p:cNvSpPr/>
          <p:nvPr/>
        </p:nvSpPr>
        <p:spPr>
          <a:xfrm>
            <a:off x="11353648" y="5047488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pic>
        <p:nvPicPr>
          <p:cNvPr id="34" name="Іконка MdHub" descr="Декоративна іконк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403" y="3933063"/>
            <a:ext cx="628650" cy="628650"/>
          </a:xfrm>
          <a:prstGeom prst="rect">
            <a:avLst/>
          </a:prstGeom>
        </p:spPr>
      </p:pic>
      <p:sp>
        <p:nvSpPr>
          <p:cNvPr id="35" name="Текст підсумку 3"/>
          <p:cNvSpPr txBox="1"/>
          <p:nvPr/>
        </p:nvSpPr>
        <p:spPr>
          <a:xfrm>
            <a:off x="8244688" y="4572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Модель готова до масштабування</a:t>
            </a:r>
            <a:endParaRPr lang="en-US" sz="1700" dirty="0"/>
          </a:p>
        </p:txBody>
      </p:sp>
      <p:sp>
        <p:nvSpPr>
          <p:cNvPr id="36" name="Подяка"/>
          <p:cNvSpPr txBox="1"/>
          <p:nvPr/>
        </p:nvSpPr>
        <p:spPr>
          <a:xfrm>
            <a:off x="0" y="5486400"/>
            <a:ext cx="12191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600" kern="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ДЯКУЮ ЗА УВАГУ</a:t>
            </a:r>
            <a:endParaRPr lang="en-US" sz="1800" dirty="0"/>
          </a:p>
        </p:txBody>
      </p:sp>
      <p:sp>
        <p:nvSpPr>
          <p:cNvPr id="37" name="Підпис"/>
          <p:cNvSpPr txBox="1"/>
          <p:nvPr/>
        </p:nvSpPr>
        <p:spPr>
          <a:xfrm>
            <a:off x="0" y="5943600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Центр спеціальних операцій «А» Служби безпеки України · Школа пілотів і штурманів FP-2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P-2 Tactical">
  <a:themeElements>
    <a:clrScheme name="FP-2 Tactical">
      <a:dk1>
        <a:srgbClr val="0B0D0E"/>
      </a:dk1>
      <a:lt1>
        <a:srgbClr val="F4F4F2"/>
      </a:lt1>
      <a:dk2>
        <a:srgbClr val="15191B"/>
      </a:dk2>
      <a:lt2>
        <a:srgbClr val="A9B0B4"/>
      </a:lt2>
      <a:accent1>
        <a:srgbClr val="58F268"/>
      </a:accent1>
      <a:accent2>
        <a:srgbClr val="2E6B3A"/>
      </a:accent2>
      <a:accent3>
        <a:srgbClr val="353C42"/>
      </a:accent3>
      <a:accent4>
        <a:srgbClr val="1D2318"/>
      </a:accent4>
      <a:accent5>
        <a:srgbClr val="D7DBDD"/>
      </a:accent5>
      <a:accent6>
        <a:srgbClr val="1F7A33"/>
      </a:accent6>
      <a:hlink>
        <a:srgbClr val="58F268"/>
      </a:hlink>
      <a:folHlink>
        <a:srgbClr val="D7DBDD"/>
      </a:folHlink>
    </a:clrScheme>
    <a:fontScheme name="FP-2 Tactic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Центр спеціальних операцій «А» СБУ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Школа пілотів і штурманів FP-2</dc:title>
  <dc:subject>Презентація проєкту</dc:subject>
  <dc:creator>PptxGenJS</dc:creator>
  <cp:lastModifiedBy>PptxGenJS</cp:lastModifiedBy>
  <cp:revision>1</cp:revision>
  <dcterms:created xsi:type="dcterms:W3CDTF">2026-10-08T13:39:38Z</dcterms:created>
  <dcterms:modified xsi:type="dcterms:W3CDTF">2026-10-08T13:39:38Z</dcterms:modified>
</cp:coreProperties>
</file>