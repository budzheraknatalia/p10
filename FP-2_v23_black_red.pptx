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7d164ef-ac47-d582-8fc3-3a759807daca}">
          <p14:sldIdLst>
            <p14:sldId id="256"/>
          </p14:sldIdLst>
        </p14:section>
        <p14:section name="Мета" id="{2883b00b-f58c-795f-c74f-1520b6bf63d0}">
          <p14:sldIdLst>
            <p14:sldId id="257"/>
          </p14:sldIdLst>
        </p14:section>
        <p14:section name="Підготовка" id="{33d0042a-4187-67d5-8492-62a2b53f71b0}">
          <p14:sldIdLst>
            <p14:sldId id="258"/>
            <p14:sldId id="259"/>
            <p14:sldId id="260"/>
          </p14:sldIdLst>
        </p14:section>
        <p14:section name="Симулятор" id="{1eeee693-0748-f78b-4a0e-5044dec7e3fb}">
          <p14:sldIdLst>
            <p14:sldId id="261"/>
          </p14:sldIdLst>
        </p14:section>
        <p14:section name="Розвиток" id="{c23b29e5-6c7d-acec-2bbf-754d8f47273a}">
          <p14:sldIdLst>
            <p14:sldId id="262"/>
          </p14:sldIdLst>
        </p14:section>
        <p14:section name="Завершення" id="{e6299523-e627-8f41-24d5-cda0e3349de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Добрий день. Представляю проєкт школи пілотів і штурманів FP-2 Центру спеціальних операцій «А». Суть проста: ми готуємо власні екіпажі під задачі Центру, поєднуючи бойовий досвід, якісну навчальну базу і сучасне оснащення. На фоні — реальний кадр із нашого симулятора.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причини. Перша — нам потрібно більше пілотів і штурманів, підготовлених саме під наші задачі, а не загального профілю. Друга — підготовлений екіпаж підвищує результативність бойових місій. Третя — це прямо відбивається на показниках бойової роботи підрозділів. Тобто школа — не витрата, а множник ефективності.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 підготовки — інтеграція трьох складових. Бойовий досвід: програму пишуть люди, які самі працювали на FP-2. Навчальна база: структурована програма, яка оперативно оновлюється. Технічне оснащення: симулятор, на якому керування ідентичне бойовому вильоту. Разом це дає на виході пілота або штурмана високого класу.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Шлях навчання — крок за кроком. Люди вже служать у Центрі, тому все починається з відбору у підрозділах. Далі — освоєння теорії і практики, сертифікація, накопичення досвіду, і на виході — фахівець високого класу. Кожен крок має чітку ціль і зрозумілий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Навчання складається з чотирьох елементів. Програма, яку написали співробітники з реальним бойовим досвідом на FP-2. Симулятор, що відтворює бойову місію. Участь у реальній місії в ролі спостерігача. І жива комунікація з досвідченими пілотами та штурманами — передача досвіду напряму.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перевага — тренуємось так, як воюємо. Симуляція максимально реалістична, включно з перешкодами, які можуть виникнути під час місії. Керування — контролер і робоче місце — ідентичне бойовому вильоту. І програми для планування ті самі, що й на реальних місіях. Помилка на симуляторі нічого не коштує — помилка в бою коштує борта і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масштабується. Навчальні пункти можна розгорнути в інших населених пунктах. Симулятор підходить для тренувань на будь-яких БпЛА типу «крило», не лише FP-2. А програма оперативно оновлюється під актуальну бойову обстановку і потреби Центру.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школа дає більше підготовлених екіпажів, симулятор максимально наближає навчання до бойової роботи, а модель готова до масштабування. Вкладення в школу — це вкладення в результат кожної бойової місії. Дякую, готовий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640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СЛУЖБИ БЕЗПЕКИ УКРАЇНИ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spc="400" kern="0" dirty="0">
                <a:solidFill>
                  <a:srgbClr val="D7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4297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</a:t>
            </a:r>
            <a:endParaRPr lang="en-US" sz="1100" dirty="0"/>
          </a:p>
        </p:txBody>
      </p:sp>
      <p:pic>
        <p:nvPicPr>
          <p:cNvPr id="3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27432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 І ШТУРМАНІВ FP-2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rgbClr val="D72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3657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ПРЕЗЕНТАЦІЯ ПРОЄКТУ</a:t>
            </a:r>
            <a:endParaRPr lang="en-US" sz="15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</a:t>
            </a:r>
            <a:endParaRPr lang="en-US" sz="5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ШТУРМАНІВ</a:t>
            </a:r>
            <a:endParaRPr lang="en-US" sz="5000" dirty="0"/>
          </a:p>
        </p:txBody>
      </p:sp>
      <p:sp>
        <p:nvSpPr>
          <p:cNvPr id="4" name="FP-2 акцент"/>
          <p:cNvSpPr txBox="1"/>
          <p:nvPr/>
        </p:nvSpPr>
        <p:spPr>
          <a:xfrm>
            <a:off x="502920" y="39319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D7262F"/>
                </a:solidFill>
                <a:effectLst>
                  <a:glow rad="1016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FP-2</a:t>
            </a:r>
            <a:endParaRPr lang="en-US" sz="12000" dirty="0"/>
          </a:p>
        </p:txBody>
      </p:sp>
      <p:sp>
        <p:nvSpPr>
          <p:cNvPr id="5" name="Слоган"/>
          <p:cNvSpPr txBox="1"/>
          <p:nvPr/>
        </p:nvSpPr>
        <p:spPr>
          <a:xfrm>
            <a:off x="54864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pPr indent="0" marL="0">
              <a:buNone/>
            </a:pPr>
            <a:r>
              <a:rPr lang="en-US" sz="18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pPr indent="0" marL="0">
              <a:buNone/>
            </a:pPr>
            <a:r>
              <a:rPr lang="en-US" sz="18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Сучасне оснащення</a:t>
            </a:r>
            <a:endParaRPr lang="en-US" sz="1800" dirty="0"/>
          </a:p>
        </p:txBody>
      </p:sp>
      <p:sp>
        <p:nvSpPr>
          <p:cNvPr id="6" name="Рамка симулятора кут 1"/>
          <p:cNvSpPr/>
          <p:nvPr/>
        </p:nvSpPr>
        <p:spPr>
          <a:xfrm>
            <a:off x="690372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Рамка симулятора кут 2"/>
          <p:cNvSpPr/>
          <p:nvPr/>
        </p:nvSpPr>
        <p:spPr>
          <a:xfrm>
            <a:off x="69037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Рамка симулятора кут 3"/>
          <p:cNvSpPr/>
          <p:nvPr/>
        </p:nvSpPr>
        <p:spPr>
          <a:xfrm>
            <a:off x="1069848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Рамка симулятора кут 4"/>
          <p:cNvSpPr/>
          <p:nvPr/>
        </p:nvSpPr>
        <p:spPr>
          <a:xfrm>
            <a:off x="110185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Рамка симулятора кут 5"/>
          <p:cNvSpPr/>
          <p:nvPr/>
        </p:nvSpPr>
        <p:spPr>
          <a:xfrm>
            <a:off x="690372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Рамка симулятора кут 6"/>
          <p:cNvSpPr/>
          <p:nvPr/>
        </p:nvSpPr>
        <p:spPr>
          <a:xfrm>
            <a:off x="69037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2" name="Рамка симулятора кут 7"/>
          <p:cNvSpPr/>
          <p:nvPr/>
        </p:nvSpPr>
        <p:spPr>
          <a:xfrm>
            <a:off x="1069848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3" name="Рамка симулятора кут 8"/>
          <p:cNvSpPr/>
          <p:nvPr/>
        </p:nvSpPr>
        <p:spPr>
          <a:xfrm>
            <a:off x="110185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4" name="Підпис симулятора"/>
          <p:cNvSpPr txBox="1"/>
          <p:nvPr/>
        </p:nvSpPr>
        <p:spPr>
          <a:xfrm>
            <a:off x="69037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СИМУЛЯЦІЯ БОЙОВОЇ МІСІЇ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МЕТА ПРОЄКТУ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СТВОРЮВАТИ ШКОЛУ?</a:t>
            </a:r>
            <a:endParaRPr lang="en-US" sz="4000" dirty="0"/>
          </a:p>
        </p:txBody>
      </p:sp>
      <p:pic>
        <p:nvPicPr>
          <p:cNvPr id="4" name="Комікс 01" descr="Комікс: військовий показує великий палець — «Хочеш зробити добре — зроби сам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1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6" name="Кути коміксу 01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Кути коміксу 01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Кути коміксу 01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Кути коміксу 01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Кути коміксу 01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Кути коміксу 01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2" name="Кути коміксу 01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3" name="Кути коміксу 01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4" name="Тег 01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1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01</a:t>
            </a:r>
            <a:endParaRPr lang="en-US" sz="1100" dirty="0"/>
          </a:p>
        </p:txBody>
      </p:sp>
      <p:sp>
        <p:nvSpPr>
          <p:cNvPr id="16" name="Картка 01"/>
          <p:cNvSpPr/>
          <p:nvPr/>
        </p:nvSpPr>
        <p:spPr>
          <a:xfrm>
            <a:off x="4183380" y="1783080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Картка 01 кут 1"/>
          <p:cNvSpPr/>
          <p:nvPr/>
        </p:nvSpPr>
        <p:spPr>
          <a:xfrm>
            <a:off x="4183380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8" name="Картка 01 кут 2"/>
          <p:cNvSpPr/>
          <p:nvPr/>
        </p:nvSpPr>
        <p:spPr>
          <a:xfrm>
            <a:off x="4183380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9" name="Картка 01 кут 3"/>
          <p:cNvSpPr/>
          <p:nvPr/>
        </p:nvSpPr>
        <p:spPr>
          <a:xfrm>
            <a:off x="11496751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0" name="Картка 01 кут 4"/>
          <p:cNvSpPr/>
          <p:nvPr/>
        </p:nvSpPr>
        <p:spPr>
          <a:xfrm>
            <a:off x="11643055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1" name="Картка 01 кут 5"/>
          <p:cNvSpPr/>
          <p:nvPr/>
        </p:nvSpPr>
        <p:spPr>
          <a:xfrm>
            <a:off x="4183380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2" name="Картка 01 кут 6"/>
          <p:cNvSpPr/>
          <p:nvPr/>
        </p:nvSpPr>
        <p:spPr>
          <a:xfrm>
            <a:off x="4183380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3" name="Картка 01 кут 7"/>
          <p:cNvSpPr/>
          <p:nvPr/>
        </p:nvSpPr>
        <p:spPr>
          <a:xfrm>
            <a:off x="11496751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4" name="Картка 01 кут 8"/>
          <p:cNvSpPr/>
          <p:nvPr/>
        </p:nvSpPr>
        <p:spPr>
          <a:xfrm>
            <a:off x="11643055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5" name="Номер 01"/>
          <p:cNvSpPr txBox="1"/>
          <p:nvPr/>
        </p:nvSpPr>
        <p:spPr>
          <a:xfrm>
            <a:off x="4457700" y="1783080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7262F"/>
                </a:solidFill>
                <a:effectLst>
                  <a:glow rad="4572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pic>
        <p:nvPicPr>
          <p:cNvPr id="26" name="Іконка MdGroup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74" y="1986534"/>
            <a:ext cx="708660" cy="708660"/>
          </a:xfrm>
          <a:prstGeom prst="rect">
            <a:avLst/>
          </a:prstGeom>
        </p:spPr>
      </p:pic>
      <p:sp>
        <p:nvSpPr>
          <p:cNvPr id="27" name="Заголовок 01"/>
          <p:cNvSpPr txBox="1"/>
          <p:nvPr/>
        </p:nvSpPr>
        <p:spPr>
          <a:xfrm>
            <a:off x="6286500" y="1938528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пілотів і штурманів</a:t>
            </a:r>
            <a:endParaRPr lang="en-US" sz="2200" dirty="0"/>
          </a:p>
        </p:txBody>
      </p:sp>
      <p:sp>
        <p:nvSpPr>
          <p:cNvPr id="28" name="Опис 01"/>
          <p:cNvSpPr txBox="1"/>
          <p:nvPr/>
        </p:nvSpPr>
        <p:spPr>
          <a:xfrm>
            <a:off x="6286500" y="2377440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навчених саме під потреби Центру</a:t>
            </a:r>
            <a:endParaRPr lang="en-US" sz="1700" dirty="0"/>
          </a:p>
        </p:txBody>
      </p:sp>
      <p:sp>
        <p:nvSpPr>
          <p:cNvPr id="29" name="Картка 02"/>
          <p:cNvSpPr/>
          <p:nvPr/>
        </p:nvSpPr>
        <p:spPr>
          <a:xfrm>
            <a:off x="4183380" y="3099816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Картка 02 кут 1"/>
          <p:cNvSpPr/>
          <p:nvPr/>
        </p:nvSpPr>
        <p:spPr>
          <a:xfrm>
            <a:off x="4183380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1" name="Картка 02 кут 2"/>
          <p:cNvSpPr/>
          <p:nvPr/>
        </p:nvSpPr>
        <p:spPr>
          <a:xfrm>
            <a:off x="4183380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2" name="Картка 02 кут 3"/>
          <p:cNvSpPr/>
          <p:nvPr/>
        </p:nvSpPr>
        <p:spPr>
          <a:xfrm>
            <a:off x="11496751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3" name="Картка 02 кут 4"/>
          <p:cNvSpPr/>
          <p:nvPr/>
        </p:nvSpPr>
        <p:spPr>
          <a:xfrm>
            <a:off x="11643055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4" name="Картка 02 кут 5"/>
          <p:cNvSpPr/>
          <p:nvPr/>
        </p:nvSpPr>
        <p:spPr>
          <a:xfrm>
            <a:off x="4183380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5" name="Картка 02 кут 6"/>
          <p:cNvSpPr/>
          <p:nvPr/>
        </p:nvSpPr>
        <p:spPr>
          <a:xfrm>
            <a:off x="4183380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6" name="Картка 02 кут 7"/>
          <p:cNvSpPr/>
          <p:nvPr/>
        </p:nvSpPr>
        <p:spPr>
          <a:xfrm>
            <a:off x="11496751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7" name="Картка 02 кут 8"/>
          <p:cNvSpPr/>
          <p:nvPr/>
        </p:nvSpPr>
        <p:spPr>
          <a:xfrm>
            <a:off x="11643055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8" name="Номер 02"/>
          <p:cNvSpPr txBox="1"/>
          <p:nvPr/>
        </p:nvSpPr>
        <p:spPr>
          <a:xfrm>
            <a:off x="4457700" y="3099816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7262F"/>
                </a:solidFill>
                <a:effectLst>
                  <a:glow rad="4572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pic>
        <p:nvPicPr>
          <p:cNvPr id="39" name="Іконка GiOnTarget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74" y="3303270"/>
            <a:ext cx="708660" cy="708660"/>
          </a:xfrm>
          <a:prstGeom prst="rect">
            <a:avLst/>
          </a:prstGeom>
        </p:spPr>
      </p:pic>
      <p:sp>
        <p:nvSpPr>
          <p:cNvPr id="40" name="Заголовок 02"/>
          <p:cNvSpPr txBox="1"/>
          <p:nvPr/>
        </p:nvSpPr>
        <p:spPr>
          <a:xfrm>
            <a:off x="6286500" y="3255264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Вища результативність</a:t>
            </a:r>
            <a:endParaRPr lang="en-US" sz="2200" dirty="0"/>
          </a:p>
        </p:txBody>
      </p:sp>
      <p:sp>
        <p:nvSpPr>
          <p:cNvPr id="41" name="Опис 02"/>
          <p:cNvSpPr txBox="1"/>
          <p:nvPr/>
        </p:nvSpPr>
        <p:spPr>
          <a:xfrm>
            <a:off x="6286500" y="3694176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бойових місій</a:t>
            </a:r>
            <a:endParaRPr lang="en-US" sz="1700" dirty="0"/>
          </a:p>
        </p:txBody>
      </p:sp>
      <p:sp>
        <p:nvSpPr>
          <p:cNvPr id="42" name="Картка 03"/>
          <p:cNvSpPr/>
          <p:nvPr/>
        </p:nvSpPr>
        <p:spPr>
          <a:xfrm>
            <a:off x="4183380" y="4416552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3" name="Картка 03 кут 1"/>
          <p:cNvSpPr/>
          <p:nvPr/>
        </p:nvSpPr>
        <p:spPr>
          <a:xfrm>
            <a:off x="4183380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4" name="Картка 03 кут 2"/>
          <p:cNvSpPr/>
          <p:nvPr/>
        </p:nvSpPr>
        <p:spPr>
          <a:xfrm>
            <a:off x="4183380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5" name="Картка 03 кут 3"/>
          <p:cNvSpPr/>
          <p:nvPr/>
        </p:nvSpPr>
        <p:spPr>
          <a:xfrm>
            <a:off x="11496751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6" name="Картка 03 кут 4"/>
          <p:cNvSpPr/>
          <p:nvPr/>
        </p:nvSpPr>
        <p:spPr>
          <a:xfrm>
            <a:off x="11643055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7" name="Картка 03 кут 5"/>
          <p:cNvSpPr/>
          <p:nvPr/>
        </p:nvSpPr>
        <p:spPr>
          <a:xfrm>
            <a:off x="4183380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8" name="Картка 03 кут 6"/>
          <p:cNvSpPr/>
          <p:nvPr/>
        </p:nvSpPr>
        <p:spPr>
          <a:xfrm>
            <a:off x="4183380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49" name="Картка 03 кут 7"/>
          <p:cNvSpPr/>
          <p:nvPr/>
        </p:nvSpPr>
        <p:spPr>
          <a:xfrm>
            <a:off x="11496751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50" name="Картка 03 кут 8"/>
          <p:cNvSpPr/>
          <p:nvPr/>
        </p:nvSpPr>
        <p:spPr>
          <a:xfrm>
            <a:off x="11643055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51" name="Номер 03"/>
          <p:cNvSpPr txBox="1"/>
          <p:nvPr/>
        </p:nvSpPr>
        <p:spPr>
          <a:xfrm>
            <a:off x="4457700" y="4416552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7262F"/>
                </a:solidFill>
                <a:effectLst>
                  <a:glow rad="4572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pic>
        <p:nvPicPr>
          <p:cNvPr id="52" name="Іконка MdTrendingUp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74" y="4620006"/>
            <a:ext cx="708660" cy="708660"/>
          </a:xfrm>
          <a:prstGeom prst="rect">
            <a:avLst/>
          </a:prstGeom>
        </p:spPr>
      </p:pic>
      <p:sp>
        <p:nvSpPr>
          <p:cNvPr id="53" name="Заголовок 03"/>
          <p:cNvSpPr txBox="1"/>
          <p:nvPr/>
        </p:nvSpPr>
        <p:spPr>
          <a:xfrm>
            <a:off x="6286500" y="4572000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Кращі показники</a:t>
            </a:r>
            <a:endParaRPr lang="en-US" sz="2200" dirty="0"/>
          </a:p>
        </p:txBody>
      </p:sp>
      <p:sp>
        <p:nvSpPr>
          <p:cNvPr id="54" name="Опис 03"/>
          <p:cNvSpPr txBox="1"/>
          <p:nvPr/>
        </p:nvSpPr>
        <p:spPr>
          <a:xfrm>
            <a:off x="6286500" y="5010912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бойової роботи підрозділів</a:t>
            </a:r>
            <a:endParaRPr lang="en-US" sz="1700" dirty="0"/>
          </a:p>
        </p:txBody>
      </p:sp>
      <p:sp>
        <p:nvSpPr>
          <p:cNvPr id="55" name="Ключова думка"/>
          <p:cNvSpPr txBox="1"/>
          <p:nvPr/>
        </p:nvSpPr>
        <p:spPr>
          <a:xfrm>
            <a:off x="4183380" y="5669280"/>
            <a:ext cx="745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— </a:t>
            </a:r>
            <a:pPr indent="0" marL="0">
              <a:buNone/>
            </a:pPr>
            <a:r>
              <a:rPr lang="en-US" sz="22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множник бойової ефективності Центру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ПРИНЦИП ПІДГОТОВКИ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ФОРМУЛА ПІДГОТОВКИ</a:t>
            </a:r>
            <a:endParaRPr lang="en-US" sz="4000" dirty="0"/>
          </a:p>
        </p:txBody>
      </p:sp>
      <p:pic>
        <p:nvPicPr>
          <p:cNvPr id="4" name="Комікс 02" descr="Комікс: військовий під літаками — «Досвід. Навчальна програма. Технічне оснащення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2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6" name="Кути коміксу 02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Кути коміксу 02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Кути коміксу 02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Кути коміксу 02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Кути коміксу 02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Кути коміксу 02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2" name="Кути коміксу 02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3" name="Кути коміксу 02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4" name="Тег 02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2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02</a:t>
            </a:r>
            <a:endParaRPr lang="en-US" sz="1100" dirty="0"/>
          </a:p>
        </p:txBody>
      </p:sp>
      <p:sp>
        <p:nvSpPr>
          <p:cNvPr id="16" name="Коло Бойовий досвід"/>
          <p:cNvSpPr/>
          <p:nvPr/>
        </p:nvSpPr>
        <p:spPr>
          <a:xfrm>
            <a:off x="4183380" y="1783080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17" name="Іконка MdMilitaryTech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55" y="1925955"/>
            <a:ext cx="582930" cy="582930"/>
          </a:xfrm>
          <a:prstGeom prst="rect">
            <a:avLst/>
          </a:prstGeom>
        </p:spPr>
      </p:pic>
      <p:sp>
        <p:nvSpPr>
          <p:cNvPr id="18" name="Складова Бойовий досвід"/>
          <p:cNvSpPr txBox="1"/>
          <p:nvPr/>
        </p:nvSpPr>
        <p:spPr>
          <a:xfrm>
            <a:off x="5326380" y="1837944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endParaRPr lang="en-US" sz="2200" dirty="0"/>
          </a:p>
        </p:txBody>
      </p:sp>
      <p:sp>
        <p:nvSpPr>
          <p:cNvPr id="19" name="Опис Бойовий досвід"/>
          <p:cNvSpPr txBox="1"/>
          <p:nvPr/>
        </p:nvSpPr>
        <p:spPr>
          <a:xfrm>
            <a:off x="5326380" y="2240280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інструктори з бойовою роботою на FP-2</a:t>
            </a:r>
            <a:endParaRPr lang="en-US" sz="1700" dirty="0"/>
          </a:p>
        </p:txBody>
      </p:sp>
      <p:sp>
        <p:nvSpPr>
          <p:cNvPr id="20" name="Плюс"/>
          <p:cNvSpPr txBox="1"/>
          <p:nvPr/>
        </p:nvSpPr>
        <p:spPr>
          <a:xfrm>
            <a:off x="418338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7262F"/>
                </a:solidFill>
                <a:effectLst>
                  <a:glow rad="32004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Коло Навчальна база"/>
          <p:cNvSpPr/>
          <p:nvPr/>
        </p:nvSpPr>
        <p:spPr>
          <a:xfrm>
            <a:off x="4183380" y="3035808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22" name="Іконка MdMenuBook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55" y="3178683"/>
            <a:ext cx="582930" cy="582930"/>
          </a:xfrm>
          <a:prstGeom prst="rect">
            <a:avLst/>
          </a:prstGeom>
        </p:spPr>
      </p:pic>
      <p:sp>
        <p:nvSpPr>
          <p:cNvPr id="23" name="Складова Навчальна база"/>
          <p:cNvSpPr txBox="1"/>
          <p:nvPr/>
        </p:nvSpPr>
        <p:spPr>
          <a:xfrm>
            <a:off x="5326380" y="3090672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endParaRPr lang="en-US" sz="2200" dirty="0"/>
          </a:p>
        </p:txBody>
      </p:sp>
      <p:sp>
        <p:nvSpPr>
          <p:cNvPr id="24" name="Опис Навчальна база"/>
          <p:cNvSpPr txBox="1"/>
          <p:nvPr/>
        </p:nvSpPr>
        <p:spPr>
          <a:xfrm>
            <a:off x="5326380" y="3493008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якісна програма, що постійно оновлюється</a:t>
            </a:r>
            <a:endParaRPr lang="en-US" sz="1700" dirty="0"/>
          </a:p>
        </p:txBody>
      </p:sp>
      <p:sp>
        <p:nvSpPr>
          <p:cNvPr id="25" name="Плюс"/>
          <p:cNvSpPr txBox="1"/>
          <p:nvPr/>
        </p:nvSpPr>
        <p:spPr>
          <a:xfrm>
            <a:off x="418338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7262F"/>
                </a:solidFill>
                <a:effectLst>
                  <a:glow rad="32004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Коло Технічне оснащення"/>
          <p:cNvSpPr/>
          <p:nvPr/>
        </p:nvSpPr>
        <p:spPr>
          <a:xfrm>
            <a:off x="4183380" y="4288536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27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55" y="4431411"/>
            <a:ext cx="582930" cy="582930"/>
          </a:xfrm>
          <a:prstGeom prst="rect">
            <a:avLst/>
          </a:prstGeom>
        </p:spPr>
      </p:pic>
      <p:sp>
        <p:nvSpPr>
          <p:cNvPr id="28" name="Складова Технічне оснащення"/>
          <p:cNvSpPr txBox="1"/>
          <p:nvPr/>
        </p:nvSpPr>
        <p:spPr>
          <a:xfrm>
            <a:off x="5326380" y="4343400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Технічне оснащення</a:t>
            </a:r>
            <a:endParaRPr lang="en-US" sz="2200" dirty="0"/>
          </a:p>
        </p:txBody>
      </p:sp>
      <p:sp>
        <p:nvSpPr>
          <p:cNvPr id="29" name="Опис Технічне оснащення"/>
          <p:cNvSpPr txBox="1"/>
          <p:nvPr/>
        </p:nvSpPr>
        <p:spPr>
          <a:xfrm>
            <a:off x="5326380" y="4745736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30" name="Результат"/>
          <p:cNvSpPr/>
          <p:nvPr/>
        </p:nvSpPr>
        <p:spPr>
          <a:xfrm>
            <a:off x="4183380" y="5340096"/>
            <a:ext cx="7459675" cy="786384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sp>
        <p:nvSpPr>
          <p:cNvPr id="31" name="Дорівнює"/>
          <p:cNvSpPr txBox="1"/>
          <p:nvPr/>
        </p:nvSpPr>
        <p:spPr>
          <a:xfrm>
            <a:off x="4183380" y="534009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4000" dirty="0"/>
          </a:p>
        </p:txBody>
      </p:sp>
      <p:pic>
        <p:nvPicPr>
          <p:cNvPr id="32" name="Іконка результату" descr="Іконка результату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5449824"/>
            <a:ext cx="566928" cy="566928"/>
          </a:xfrm>
          <a:prstGeom prst="rect">
            <a:avLst/>
          </a:prstGeom>
        </p:spPr>
      </p:pic>
      <p:sp>
        <p:nvSpPr>
          <p:cNvPr id="33" name="Текст результату"/>
          <p:cNvSpPr txBox="1"/>
          <p:nvPr/>
        </p:nvSpPr>
        <p:spPr>
          <a:xfrm>
            <a:off x="6057900" y="5385816"/>
            <a:ext cx="54022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Пілот / штурман високого класу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КРОК ЗА КРОКОМ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ШЛЯХ НАВЧАННЯ</a:t>
            </a:r>
            <a:endParaRPr lang="en-US" sz="4000" dirty="0"/>
          </a:p>
        </p:txBody>
      </p:sp>
      <p:pic>
        <p:nvPicPr>
          <p:cNvPr id="4" name="Комікс 03" descr="Комікс із п’яти кадрів: шлях навчання від відбору до фахівц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22632"/>
          </a:xfrm>
          <a:prstGeom prst="rect">
            <a:avLst/>
          </a:prstGeom>
        </p:spPr>
      </p:pic>
      <p:sp>
        <p:nvSpPr>
          <p:cNvPr id="5" name="Рамка коміксу 03"/>
          <p:cNvSpPr/>
          <p:nvPr/>
        </p:nvSpPr>
        <p:spPr>
          <a:xfrm>
            <a:off x="548640" y="1737360"/>
            <a:ext cx="11094415" cy="342263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6" name="Кути коміксу 03 кут 1"/>
          <p:cNvSpPr/>
          <p:nvPr/>
        </p:nvSpPr>
        <p:spPr>
          <a:xfrm>
            <a:off x="438912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Кути коміксу 03 кут 2"/>
          <p:cNvSpPr/>
          <p:nvPr/>
        </p:nvSpPr>
        <p:spPr>
          <a:xfrm>
            <a:off x="438912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Кути коміксу 03 кут 3"/>
          <p:cNvSpPr/>
          <p:nvPr/>
        </p:nvSpPr>
        <p:spPr>
          <a:xfrm>
            <a:off x="11515039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Кути коміксу 03 кут 4"/>
          <p:cNvSpPr/>
          <p:nvPr/>
        </p:nvSpPr>
        <p:spPr>
          <a:xfrm>
            <a:off x="11752783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Кути коміксу 03 кут 5"/>
          <p:cNvSpPr/>
          <p:nvPr/>
        </p:nvSpPr>
        <p:spPr>
          <a:xfrm>
            <a:off x="438912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Кути коміксу 03 кут 6"/>
          <p:cNvSpPr/>
          <p:nvPr/>
        </p:nvSpPr>
        <p:spPr>
          <a:xfrm>
            <a:off x="438912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2" name="Кути коміксу 03 кут 7"/>
          <p:cNvSpPr/>
          <p:nvPr/>
        </p:nvSpPr>
        <p:spPr>
          <a:xfrm>
            <a:off x="11515039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3" name="Кути коміксу 03 кут 8"/>
          <p:cNvSpPr/>
          <p:nvPr/>
        </p:nvSpPr>
        <p:spPr>
          <a:xfrm>
            <a:off x="11752783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4" name="Тег 03"/>
          <p:cNvSpPr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3"/>
          <p:cNvSpPr txBox="1"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03</a:t>
            </a:r>
            <a:endParaRPr lang="en-US" sz="1100" dirty="0"/>
          </a:p>
        </p:txBody>
      </p:sp>
      <p:sp>
        <p:nvSpPr>
          <p:cNvPr id="16" name="Етап 1"/>
          <p:cNvSpPr txBox="1"/>
          <p:nvPr/>
        </p:nvSpPr>
        <p:spPr>
          <a:xfrm>
            <a:off x="502920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01</a:t>
            </a:r>
            <a:endParaRPr lang="en-US" sz="1200" dirty="0"/>
          </a:p>
        </p:txBody>
      </p:sp>
      <p:sp>
        <p:nvSpPr>
          <p:cNvPr id="17" name="Назва етапу 1"/>
          <p:cNvSpPr txBox="1"/>
          <p:nvPr/>
        </p:nvSpPr>
        <p:spPr>
          <a:xfrm>
            <a:off x="502920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Відбір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 підрозділах</a:t>
            </a:r>
            <a:endParaRPr lang="en-US" sz="1800" dirty="0"/>
          </a:p>
        </p:txBody>
      </p:sp>
      <p:sp>
        <p:nvSpPr>
          <p:cNvPr id="18" name="Етап 2"/>
          <p:cNvSpPr txBox="1"/>
          <p:nvPr/>
        </p:nvSpPr>
        <p:spPr>
          <a:xfrm>
            <a:off x="2512747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02</a:t>
            </a:r>
            <a:endParaRPr lang="en-US" sz="1200" dirty="0"/>
          </a:p>
        </p:txBody>
      </p:sp>
      <p:sp>
        <p:nvSpPr>
          <p:cNvPr id="19" name="Назва етапу 2"/>
          <p:cNvSpPr txBox="1"/>
          <p:nvPr/>
        </p:nvSpPr>
        <p:spPr>
          <a:xfrm>
            <a:off x="2512747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Освоєння теорії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практики</a:t>
            </a:r>
            <a:endParaRPr lang="en-US" sz="1800" dirty="0"/>
          </a:p>
        </p:txBody>
      </p:sp>
      <p:sp>
        <p:nvSpPr>
          <p:cNvPr id="20" name="Етап 3"/>
          <p:cNvSpPr txBox="1"/>
          <p:nvPr/>
        </p:nvSpPr>
        <p:spPr>
          <a:xfrm>
            <a:off x="4902074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03</a:t>
            </a:r>
            <a:endParaRPr lang="en-US" sz="1200" dirty="0"/>
          </a:p>
        </p:txBody>
      </p:sp>
      <p:sp>
        <p:nvSpPr>
          <p:cNvPr id="21" name="Назва етапу 3"/>
          <p:cNvSpPr txBox="1"/>
          <p:nvPr/>
        </p:nvSpPr>
        <p:spPr>
          <a:xfrm>
            <a:off x="4902074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Сертифікація</a:t>
            </a:r>
            <a:endParaRPr lang="en-US" sz="1800" dirty="0"/>
          </a:p>
        </p:txBody>
      </p:sp>
      <p:sp>
        <p:nvSpPr>
          <p:cNvPr id="22" name="Етап 4"/>
          <p:cNvSpPr txBox="1"/>
          <p:nvPr/>
        </p:nvSpPr>
        <p:spPr>
          <a:xfrm>
            <a:off x="6910163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04</a:t>
            </a:r>
            <a:endParaRPr lang="en-US" sz="1200" dirty="0"/>
          </a:p>
        </p:txBody>
      </p:sp>
      <p:sp>
        <p:nvSpPr>
          <p:cNvPr id="23" name="Назва етапу 4"/>
          <p:cNvSpPr txBox="1"/>
          <p:nvPr/>
        </p:nvSpPr>
        <p:spPr>
          <a:xfrm>
            <a:off x="6910163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Накопичення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досвіду</a:t>
            </a:r>
            <a:endParaRPr lang="en-US" sz="1800" dirty="0"/>
          </a:p>
        </p:txBody>
      </p:sp>
      <p:sp>
        <p:nvSpPr>
          <p:cNvPr id="24" name="Етап 5"/>
          <p:cNvSpPr txBox="1"/>
          <p:nvPr/>
        </p:nvSpPr>
        <p:spPr>
          <a:xfrm>
            <a:off x="9291435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05</a:t>
            </a:r>
            <a:endParaRPr lang="en-US" sz="1200" dirty="0"/>
          </a:p>
        </p:txBody>
      </p:sp>
      <p:sp>
        <p:nvSpPr>
          <p:cNvPr id="25" name="Назва етапу 5"/>
          <p:cNvSpPr txBox="1"/>
          <p:nvPr/>
        </p:nvSpPr>
        <p:spPr>
          <a:xfrm>
            <a:off x="9291435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Фахівець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високого класу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СИСТЕМА НАВЧАННЯ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СКЛАДОВІ НАВЧАННЯ</a:t>
            </a:r>
            <a:endParaRPr lang="en-US" sz="4000" dirty="0"/>
          </a:p>
        </p:txBody>
      </p:sp>
      <p:pic>
        <p:nvPicPr>
          <p:cNvPr id="4" name="Комікс 04" descr="Комікс: досвідчені пілоти підказують курсанту за пультом керув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655" y="1783080"/>
            <a:ext cx="4343400" cy="4343400"/>
          </a:xfrm>
          <a:prstGeom prst="rect">
            <a:avLst/>
          </a:prstGeom>
        </p:spPr>
      </p:pic>
      <p:sp>
        <p:nvSpPr>
          <p:cNvPr id="5" name="Рамка коміксу 04"/>
          <p:cNvSpPr/>
          <p:nvPr/>
        </p:nvSpPr>
        <p:spPr>
          <a:xfrm>
            <a:off x="7299655" y="1783080"/>
            <a:ext cx="434340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6" name="Кути коміксу 04 кут 1"/>
          <p:cNvSpPr/>
          <p:nvPr/>
        </p:nvSpPr>
        <p:spPr>
          <a:xfrm>
            <a:off x="718992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Кути коміксу 04 кут 2"/>
          <p:cNvSpPr/>
          <p:nvPr/>
        </p:nvSpPr>
        <p:spPr>
          <a:xfrm>
            <a:off x="718992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Кути коміксу 04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Кути коміксу 04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Кути коміксу 04 кут 5"/>
          <p:cNvSpPr/>
          <p:nvPr/>
        </p:nvSpPr>
        <p:spPr>
          <a:xfrm>
            <a:off x="718992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Кути коміксу 04 кут 6"/>
          <p:cNvSpPr/>
          <p:nvPr/>
        </p:nvSpPr>
        <p:spPr>
          <a:xfrm>
            <a:off x="718992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2" name="Кути коміксу 04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3" name="Кути коміксу 04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4" name="Тег 04"/>
          <p:cNvSpPr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4"/>
          <p:cNvSpPr txBox="1"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04</a:t>
            </a:r>
            <a:endParaRPr lang="en-US" sz="1100" dirty="0"/>
          </a:p>
        </p:txBody>
      </p:sp>
      <p:sp>
        <p:nvSpPr>
          <p:cNvPr id="16" name="Коло Навчальна програма"/>
          <p:cNvSpPr/>
          <p:nvPr/>
        </p:nvSpPr>
        <p:spPr>
          <a:xfrm>
            <a:off x="548640" y="1810512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17" name="Іконка MdMenuBoo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Назва Навчальна програма"/>
          <p:cNvSpPr txBox="1"/>
          <p:nvPr/>
        </p:nvSpPr>
        <p:spPr>
          <a:xfrm>
            <a:off x="2011680" y="1783080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програма</a:t>
            </a:r>
            <a:endParaRPr lang="en-US" sz="2100" dirty="0"/>
          </a:p>
        </p:txBody>
      </p:sp>
      <p:sp>
        <p:nvSpPr>
          <p:cNvPr id="20" name="Опис Навчальна програма"/>
          <p:cNvSpPr txBox="1"/>
          <p:nvPr/>
        </p:nvSpPr>
        <p:spPr>
          <a:xfrm>
            <a:off x="1463040" y="2194560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написана співробітниками з досвідом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бойової роботи на FP-2</a:t>
            </a:r>
            <a:endParaRPr lang="en-US" sz="1600" dirty="0"/>
          </a:p>
        </p:txBody>
      </p:sp>
      <p:sp>
        <p:nvSpPr>
          <p:cNvPr id="21" name="Коло Симулятор польотів"/>
          <p:cNvSpPr/>
          <p:nvPr/>
        </p:nvSpPr>
        <p:spPr>
          <a:xfrm>
            <a:off x="548640" y="2935224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22" name="Іконка FaDesktop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449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63040" y="2907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Назва Симулятор польотів"/>
          <p:cNvSpPr txBox="1"/>
          <p:nvPr/>
        </p:nvSpPr>
        <p:spPr>
          <a:xfrm>
            <a:off x="2011680" y="2907792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 польотів</a:t>
            </a:r>
            <a:endParaRPr lang="en-US" sz="2100" dirty="0"/>
          </a:p>
        </p:txBody>
      </p:sp>
      <p:sp>
        <p:nvSpPr>
          <p:cNvPr id="25" name="Опис Симулятор польотів"/>
          <p:cNvSpPr txBox="1"/>
          <p:nvPr/>
        </p:nvSpPr>
        <p:spPr>
          <a:xfrm>
            <a:off x="1463040" y="3319272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повністю відтворює реальну бойову місію</a:t>
            </a:r>
            <a:endParaRPr lang="en-US" sz="1600" dirty="0"/>
          </a:p>
        </p:txBody>
      </p:sp>
      <p:sp>
        <p:nvSpPr>
          <p:cNvPr id="26" name="Коло Реальна місія"/>
          <p:cNvSpPr/>
          <p:nvPr/>
        </p:nvSpPr>
        <p:spPr>
          <a:xfrm>
            <a:off x="548640" y="4059936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27" name="Іконка GiBinocular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96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6304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Назва Реальна місія"/>
          <p:cNvSpPr txBox="1"/>
          <p:nvPr/>
        </p:nvSpPr>
        <p:spPr>
          <a:xfrm>
            <a:off x="2011680" y="4032504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Реальна місія</a:t>
            </a:r>
            <a:endParaRPr lang="en-US" sz="2100" dirty="0"/>
          </a:p>
        </p:txBody>
      </p:sp>
      <p:sp>
        <p:nvSpPr>
          <p:cNvPr id="30" name="Опис Реальна місія"/>
          <p:cNvSpPr txBox="1"/>
          <p:nvPr/>
        </p:nvSpPr>
        <p:spPr>
          <a:xfrm>
            <a:off x="1463040" y="4443984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участь у реальній місії як спостерігач</a:t>
            </a:r>
            <a:endParaRPr lang="en-US" sz="1600" dirty="0"/>
          </a:p>
        </p:txBody>
      </p:sp>
      <p:sp>
        <p:nvSpPr>
          <p:cNvPr id="31" name="Коло Жива комунікація"/>
          <p:cNvSpPr/>
          <p:nvPr/>
        </p:nvSpPr>
        <p:spPr>
          <a:xfrm>
            <a:off x="548640" y="51846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32" name="Іконка MdRecordVoiceOver" descr="Декоративна ікон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4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63040" y="51572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Назва Жива комунікація"/>
          <p:cNvSpPr txBox="1"/>
          <p:nvPr/>
        </p:nvSpPr>
        <p:spPr>
          <a:xfrm>
            <a:off x="2011680" y="5157216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Жива комунікація</a:t>
            </a:r>
            <a:endParaRPr lang="en-US" sz="2100" dirty="0"/>
          </a:p>
        </p:txBody>
      </p:sp>
      <p:sp>
        <p:nvSpPr>
          <p:cNvPr id="35" name="Опис Жива комунікація"/>
          <p:cNvSpPr txBox="1"/>
          <p:nvPr/>
        </p:nvSpPr>
        <p:spPr>
          <a:xfrm>
            <a:off x="1463040" y="5568696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 досвідченими пілотами і штурманами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ТЕХНІЧНЕ ОСНАЩЕННЯ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ПЕРЕВАГИ СИМУЛЯТОРА</a:t>
            </a:r>
            <a:endParaRPr lang="en-US" sz="4000" dirty="0"/>
          </a:p>
        </p:txBody>
      </p:sp>
      <p:sp>
        <p:nvSpPr>
          <p:cNvPr id="4" name="Гасло"/>
          <p:cNvSpPr txBox="1"/>
          <p:nvPr/>
        </p:nvSpPr>
        <p:spPr>
          <a:xfrm>
            <a:off x="548640" y="17373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D7262F"/>
                </a:solidFill>
                <a:effectLst>
                  <a:glow rad="36576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Тренуємось так,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D7262F"/>
                </a:solidFill>
                <a:effectLst>
                  <a:glow rad="36576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 воюємо</a:t>
            </a:r>
            <a:endParaRPr lang="en-US" sz="3200" dirty="0"/>
          </a:p>
        </p:txBody>
      </p:sp>
      <p:sp>
        <p:nvSpPr>
          <p:cNvPr id="5" name="Коло Максимальна реалістичність"/>
          <p:cNvSpPr/>
          <p:nvPr/>
        </p:nvSpPr>
        <p:spPr>
          <a:xfrm>
            <a:off x="548640" y="3035808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6" name="Іконка GiRadarSweep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3129534"/>
            <a:ext cx="434340" cy="434340"/>
          </a:xfrm>
          <a:prstGeom prst="rect">
            <a:avLst/>
          </a:prstGeom>
        </p:spPr>
      </p:pic>
      <p:sp>
        <p:nvSpPr>
          <p:cNvPr id="7" name="Перевага 1"/>
          <p:cNvSpPr txBox="1"/>
          <p:nvPr/>
        </p:nvSpPr>
        <p:spPr>
          <a:xfrm>
            <a:off x="137160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Максимальна реалістичність</a:t>
            </a:r>
            <a:endParaRPr lang="en-US" sz="1900" dirty="0"/>
          </a:p>
        </p:txBody>
      </p:sp>
      <p:sp>
        <p:nvSpPr>
          <p:cNvPr id="8" name="Опис переваги 1"/>
          <p:cNvSpPr txBox="1"/>
          <p:nvPr/>
        </p:nvSpPr>
        <p:spPr>
          <a:xfrm>
            <a:off x="137160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включно з можливими перешкодами під час місії</a:t>
            </a:r>
            <a:endParaRPr lang="en-US" sz="1600" dirty="0"/>
          </a:p>
        </p:txBody>
      </p:sp>
      <p:sp>
        <p:nvSpPr>
          <p:cNvPr id="9" name="Коло Ідентичне керування"/>
          <p:cNvSpPr/>
          <p:nvPr/>
        </p:nvSpPr>
        <p:spPr>
          <a:xfrm>
            <a:off x="548640" y="4059936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10" name="Іконка GiJoystic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4153662"/>
            <a:ext cx="434340" cy="434340"/>
          </a:xfrm>
          <a:prstGeom prst="rect">
            <a:avLst/>
          </a:prstGeom>
        </p:spPr>
      </p:pic>
      <p:sp>
        <p:nvSpPr>
          <p:cNvPr id="11" name="Перевага 2"/>
          <p:cNvSpPr txBox="1"/>
          <p:nvPr/>
        </p:nvSpPr>
        <p:spPr>
          <a:xfrm>
            <a:off x="1371600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Ідентичне керування</a:t>
            </a:r>
            <a:endParaRPr lang="en-US" sz="1900" dirty="0"/>
          </a:p>
        </p:txBody>
      </p:sp>
      <p:sp>
        <p:nvSpPr>
          <p:cNvPr id="12" name="Опис переваги 2"/>
          <p:cNvSpPr txBox="1"/>
          <p:nvPr/>
        </p:nvSpPr>
        <p:spPr>
          <a:xfrm>
            <a:off x="1371600" y="4407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контролер і робоче місце — як у бойовому вильоті</a:t>
            </a:r>
            <a:endParaRPr lang="en-US" sz="1600" dirty="0"/>
          </a:p>
        </p:txBody>
      </p:sp>
      <p:sp>
        <p:nvSpPr>
          <p:cNvPr id="13" name="Коло Ті ж програми планування"/>
          <p:cNvSpPr/>
          <p:nvPr/>
        </p:nvSpPr>
        <p:spPr>
          <a:xfrm>
            <a:off x="548640" y="5084064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14" name="Іконка FaRoute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" y="5177790"/>
            <a:ext cx="434340" cy="434340"/>
          </a:xfrm>
          <a:prstGeom prst="rect">
            <a:avLst/>
          </a:prstGeom>
        </p:spPr>
      </p:pic>
      <p:sp>
        <p:nvSpPr>
          <p:cNvPr id="15" name="Перевага 3"/>
          <p:cNvSpPr txBox="1"/>
          <p:nvPr/>
        </p:nvSpPr>
        <p:spPr>
          <a:xfrm>
            <a:off x="1371600" y="50657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Ті ж програми планування</a:t>
            </a:r>
            <a:endParaRPr lang="en-US" sz="1900" dirty="0"/>
          </a:p>
        </p:txBody>
      </p:sp>
      <p:sp>
        <p:nvSpPr>
          <p:cNvPr id="16" name="Опис переваги 3"/>
          <p:cNvSpPr txBox="1"/>
          <p:nvPr/>
        </p:nvSpPr>
        <p:spPr>
          <a:xfrm>
            <a:off x="1371600" y="543153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що й для реальних бойових місій</a:t>
            </a:r>
            <a:endParaRPr lang="en-US" sz="1600" dirty="0"/>
          </a:p>
        </p:txBody>
      </p:sp>
      <p:pic>
        <p:nvPicPr>
          <p:cNvPr id="17" name="Скриншот симулятора" descr="Вигляд оператора в симуляторі FP-2: HUD, горизонт, телеметрі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6035040" cy="3621811"/>
          </a:xfrm>
          <a:prstGeom prst="rect">
            <a:avLst/>
          </a:prstGeom>
        </p:spPr>
      </p:pic>
      <p:sp>
        <p:nvSpPr>
          <p:cNvPr id="18" name="Рамка скриншота кут 1"/>
          <p:cNvSpPr/>
          <p:nvPr/>
        </p:nvSpPr>
        <p:spPr>
          <a:xfrm>
            <a:off x="5376672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9" name="Рамка скриншота кут 2"/>
          <p:cNvSpPr/>
          <p:nvPr/>
        </p:nvSpPr>
        <p:spPr>
          <a:xfrm>
            <a:off x="5376672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0" name="Рамка скриншота кут 3"/>
          <p:cNvSpPr/>
          <p:nvPr/>
        </p:nvSpPr>
        <p:spPr>
          <a:xfrm>
            <a:off x="11356848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1" name="Рамка скриншота кут 4"/>
          <p:cNvSpPr/>
          <p:nvPr/>
        </p:nvSpPr>
        <p:spPr>
          <a:xfrm>
            <a:off x="11631168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2" name="Рамка скриншота кут 5"/>
          <p:cNvSpPr/>
          <p:nvPr/>
        </p:nvSpPr>
        <p:spPr>
          <a:xfrm>
            <a:off x="5376672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3" name="Рамка скриншота кут 6"/>
          <p:cNvSpPr/>
          <p:nvPr/>
        </p:nvSpPr>
        <p:spPr>
          <a:xfrm>
            <a:off x="5376672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4" name="Рамка скриншота кут 7"/>
          <p:cNvSpPr/>
          <p:nvPr/>
        </p:nvSpPr>
        <p:spPr>
          <a:xfrm>
            <a:off x="11356848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5" name="Рамка скриншота кут 8"/>
          <p:cNvSpPr/>
          <p:nvPr/>
        </p:nvSpPr>
        <p:spPr>
          <a:xfrm>
            <a:off x="11631168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6" name="Підпис скриншота"/>
          <p:cNvSpPr txBox="1"/>
          <p:nvPr/>
        </p:nvSpPr>
        <p:spPr>
          <a:xfrm>
            <a:off x="5486400" y="5606059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ВИГЛЯД ОПЕРАТОРА В СИМУЛЯТОРІ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МАСШТАБУВАННЯ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МОЖЛИВОСТІ РОЗВИТКУ ШКОЛИ</a:t>
            </a:r>
            <a:endParaRPr lang="en-US" sz="4000" dirty="0"/>
          </a:p>
        </p:txBody>
      </p:sp>
      <p:sp>
        <p:nvSpPr>
          <p:cNvPr id="4" name="Головна теза"/>
          <p:cNvSpPr txBox="1"/>
          <p:nvPr/>
        </p:nvSpPr>
        <p:spPr>
          <a:xfrm>
            <a:off x="54864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школи придатна до масштабування і адаптації під поточні потреби Центру</a:t>
            </a:r>
            <a:endParaRPr lang="en-US" sz="2200" dirty="0"/>
          </a:p>
        </p:txBody>
      </p:sp>
      <p:sp>
        <p:nvSpPr>
          <p:cNvPr id="5" name="Коло Нові навчальні пункти"/>
          <p:cNvSpPr/>
          <p:nvPr/>
        </p:nvSpPr>
        <p:spPr>
          <a:xfrm>
            <a:off x="548640" y="299008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6" name="Іконка MdAddLocationAlt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393192" cy="393192"/>
          </a:xfrm>
          <a:prstGeom prst="rect">
            <a:avLst/>
          </a:prstGeom>
        </p:spPr>
      </p:pic>
      <p:sp>
        <p:nvSpPr>
          <p:cNvPr id="7" name="Напрям 1"/>
          <p:cNvSpPr txBox="1"/>
          <p:nvPr/>
        </p:nvSpPr>
        <p:spPr>
          <a:xfrm>
            <a:off x="14630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Нові навчальні пункти</a:t>
            </a:r>
            <a:endParaRPr lang="en-US" sz="2000" dirty="0"/>
          </a:p>
        </p:txBody>
      </p:sp>
      <p:sp>
        <p:nvSpPr>
          <p:cNvPr id="8" name="Опис напряму 1"/>
          <p:cNvSpPr txBox="1"/>
          <p:nvPr/>
        </p:nvSpPr>
        <p:spPr>
          <a:xfrm>
            <a:off x="1463040" y="3355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можливе розгортання в інших населених пунктах</a:t>
            </a:r>
            <a:endParaRPr lang="en-US" sz="1700" dirty="0"/>
          </a:p>
        </p:txBody>
      </p:sp>
      <p:sp>
        <p:nvSpPr>
          <p:cNvPr id="9" name="Коло Будь-які БпЛА типу «крило»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10" name="Іконка GiDeliveryDrone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60520"/>
            <a:ext cx="393192" cy="393192"/>
          </a:xfrm>
          <a:prstGeom prst="rect">
            <a:avLst/>
          </a:prstGeom>
        </p:spPr>
      </p:pic>
      <p:sp>
        <p:nvSpPr>
          <p:cNvPr id="11" name="Напрям 2"/>
          <p:cNvSpPr txBox="1"/>
          <p:nvPr/>
        </p:nvSpPr>
        <p:spPr>
          <a:xfrm>
            <a:off x="1463040" y="3995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Будь-які БпЛА типу «крило»</a:t>
            </a:r>
            <a:endParaRPr lang="en-US" sz="2000" dirty="0"/>
          </a:p>
        </p:txBody>
      </p:sp>
      <p:sp>
        <p:nvSpPr>
          <p:cNvPr id="12" name="Опис напряму 2"/>
          <p:cNvSpPr txBox="1"/>
          <p:nvPr/>
        </p:nvSpPr>
        <p:spPr>
          <a:xfrm>
            <a:off x="1463040" y="4379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 придатний для тренувань на них</a:t>
            </a:r>
            <a:endParaRPr lang="en-US" sz="1700" dirty="0"/>
          </a:p>
        </p:txBody>
      </p:sp>
      <p:sp>
        <p:nvSpPr>
          <p:cNvPr id="13" name="Коло Програма, що розвивається"/>
          <p:cNvSpPr/>
          <p:nvPr/>
        </p:nvSpPr>
        <p:spPr>
          <a:xfrm>
            <a:off x="548640" y="503834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EDEDED">
                <a:alpha val="16000"/>
              </a:srgbClr>
            </a:glow>
          </a:effectLst>
        </p:spPr>
      </p:sp>
      <p:pic>
        <p:nvPicPr>
          <p:cNvPr id="14" name="Іконка MdAutorenew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84648"/>
            <a:ext cx="393192" cy="393192"/>
          </a:xfrm>
          <a:prstGeom prst="rect">
            <a:avLst/>
          </a:prstGeom>
        </p:spPr>
      </p:pic>
      <p:sp>
        <p:nvSpPr>
          <p:cNvPr id="15" name="Напрям 3"/>
          <p:cNvSpPr txBox="1"/>
          <p:nvPr/>
        </p:nvSpPr>
        <p:spPr>
          <a:xfrm>
            <a:off x="146304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Програма, що розвивається</a:t>
            </a:r>
            <a:endParaRPr lang="en-US" sz="2000" dirty="0"/>
          </a:p>
        </p:txBody>
      </p:sp>
      <p:sp>
        <p:nvSpPr>
          <p:cNvPr id="16" name="Опис напряму 3"/>
          <p:cNvSpPr txBox="1"/>
          <p:nvPr/>
        </p:nvSpPr>
        <p:spPr>
          <a:xfrm>
            <a:off x="1463040" y="5404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оперативно оновлюється й адаптується</a:t>
            </a:r>
            <a:endParaRPr lang="en-US" sz="1700" dirty="0"/>
          </a:p>
        </p:txBody>
      </p:sp>
      <p:pic>
        <p:nvPicPr>
          <p:cNvPr id="17" name="Комікс 05" descr="Комікс: рій БпЛА типу «крило» і графік зростанн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795" y="1783080"/>
            <a:ext cx="3223260" cy="4343400"/>
          </a:xfrm>
          <a:prstGeom prst="rect">
            <a:avLst/>
          </a:prstGeom>
        </p:spPr>
      </p:pic>
      <p:sp>
        <p:nvSpPr>
          <p:cNvPr id="18" name="Рамка коміксу 05"/>
          <p:cNvSpPr/>
          <p:nvPr/>
        </p:nvSpPr>
        <p:spPr>
          <a:xfrm>
            <a:off x="8419795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9" name="Кути коміксу 05 кут 1"/>
          <p:cNvSpPr/>
          <p:nvPr/>
        </p:nvSpPr>
        <p:spPr>
          <a:xfrm>
            <a:off x="831006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0" name="Кути коміксу 05 кут 2"/>
          <p:cNvSpPr/>
          <p:nvPr/>
        </p:nvSpPr>
        <p:spPr>
          <a:xfrm>
            <a:off x="831006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1" name="Кути коміксу 05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2" name="Кути коміксу 05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3" name="Кути коміксу 05 кут 5"/>
          <p:cNvSpPr/>
          <p:nvPr/>
        </p:nvSpPr>
        <p:spPr>
          <a:xfrm>
            <a:off x="831006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4" name="Кути коміксу 05 кут 6"/>
          <p:cNvSpPr/>
          <p:nvPr/>
        </p:nvSpPr>
        <p:spPr>
          <a:xfrm>
            <a:off x="831006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5" name="Кути коміксу 05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6" name="Кути коміксу 05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7" name="Тег 05"/>
          <p:cNvSpPr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Підпис кадру 05"/>
          <p:cNvSpPr txBox="1"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D7262F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Вкладення в школу —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rgbClr val="D7262F"/>
                </a:solidFill>
                <a:effectLst>
                  <a:glow rad="43434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 результат кожної бойової місії</a:t>
            </a:r>
            <a:endParaRPr lang="en-US" sz="3800" dirty="0"/>
          </a:p>
        </p:txBody>
      </p:sp>
      <p:sp>
        <p:nvSpPr>
          <p:cNvPr id="3" name="Підсумок 1"/>
          <p:cNvSpPr/>
          <p:nvPr/>
        </p:nvSpPr>
        <p:spPr>
          <a:xfrm>
            <a:off x="83804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Підсумок 1 кут 1"/>
          <p:cNvSpPr/>
          <p:nvPr/>
        </p:nvSpPr>
        <p:spPr>
          <a:xfrm>
            <a:off x="83804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5" name="Підсумок 1 кут 2"/>
          <p:cNvSpPr/>
          <p:nvPr/>
        </p:nvSpPr>
        <p:spPr>
          <a:xfrm>
            <a:off x="8380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6" name="Підсумок 1 кут 3"/>
          <p:cNvSpPr/>
          <p:nvPr/>
        </p:nvSpPr>
        <p:spPr>
          <a:xfrm>
            <a:off x="396529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7" name="Підсумок 1 кут 4"/>
          <p:cNvSpPr/>
          <p:nvPr/>
        </p:nvSpPr>
        <p:spPr>
          <a:xfrm>
            <a:off x="412988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8" name="Підсумок 1 кут 5"/>
          <p:cNvSpPr/>
          <p:nvPr/>
        </p:nvSpPr>
        <p:spPr>
          <a:xfrm>
            <a:off x="83804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9" name="Підсумок 1 кут 6"/>
          <p:cNvSpPr/>
          <p:nvPr/>
        </p:nvSpPr>
        <p:spPr>
          <a:xfrm>
            <a:off x="8380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0" name="Підсумок 1 кут 7"/>
          <p:cNvSpPr/>
          <p:nvPr/>
        </p:nvSpPr>
        <p:spPr>
          <a:xfrm>
            <a:off x="396529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1" name="Підсумок 1 кут 8"/>
          <p:cNvSpPr/>
          <p:nvPr/>
        </p:nvSpPr>
        <p:spPr>
          <a:xfrm>
            <a:off x="412988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12" name="Іконка MdGroups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643" y="3933063"/>
            <a:ext cx="628650" cy="628650"/>
          </a:xfrm>
          <a:prstGeom prst="rect">
            <a:avLst/>
          </a:prstGeom>
        </p:spPr>
      </p:pic>
      <p:sp>
        <p:nvSpPr>
          <p:cNvPr id="13" name="Текст підсумку 1"/>
          <p:cNvSpPr txBox="1"/>
          <p:nvPr/>
        </p:nvSpPr>
        <p:spPr>
          <a:xfrm>
            <a:off x="102092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підготовлених екіпажів</a:t>
            </a:r>
            <a:endParaRPr lang="en-US" sz="1700" dirty="0"/>
          </a:p>
        </p:txBody>
      </p:sp>
      <p:sp>
        <p:nvSpPr>
          <p:cNvPr id="14" name="Підсумок 2"/>
          <p:cNvSpPr/>
          <p:nvPr/>
        </p:nvSpPr>
        <p:spPr>
          <a:xfrm>
            <a:off x="444992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Підсумок 2 кут 1"/>
          <p:cNvSpPr/>
          <p:nvPr/>
        </p:nvSpPr>
        <p:spPr>
          <a:xfrm>
            <a:off x="444992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6" name="Підсумок 2 кут 2"/>
          <p:cNvSpPr/>
          <p:nvPr/>
        </p:nvSpPr>
        <p:spPr>
          <a:xfrm>
            <a:off x="444992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7" name="Підсумок 2 кут 3"/>
          <p:cNvSpPr/>
          <p:nvPr/>
        </p:nvSpPr>
        <p:spPr>
          <a:xfrm>
            <a:off x="757717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8" name="Підсумок 2 кут 4"/>
          <p:cNvSpPr/>
          <p:nvPr/>
        </p:nvSpPr>
        <p:spPr>
          <a:xfrm>
            <a:off x="774176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19" name="Підсумок 2 кут 5"/>
          <p:cNvSpPr/>
          <p:nvPr/>
        </p:nvSpPr>
        <p:spPr>
          <a:xfrm>
            <a:off x="444992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0" name="Підсумок 2 кут 6"/>
          <p:cNvSpPr/>
          <p:nvPr/>
        </p:nvSpPr>
        <p:spPr>
          <a:xfrm>
            <a:off x="444992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1" name="Підсумок 2 кут 7"/>
          <p:cNvSpPr/>
          <p:nvPr/>
        </p:nvSpPr>
        <p:spPr>
          <a:xfrm>
            <a:off x="757717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2" name="Підсумок 2 кут 8"/>
          <p:cNvSpPr/>
          <p:nvPr/>
        </p:nvSpPr>
        <p:spPr>
          <a:xfrm>
            <a:off x="774176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23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23" y="3933063"/>
            <a:ext cx="628650" cy="628650"/>
          </a:xfrm>
          <a:prstGeom prst="rect">
            <a:avLst/>
          </a:prstGeom>
        </p:spPr>
      </p:pic>
      <p:sp>
        <p:nvSpPr>
          <p:cNvPr id="24" name="Текст підсумку 2"/>
          <p:cNvSpPr txBox="1"/>
          <p:nvPr/>
        </p:nvSpPr>
        <p:spPr>
          <a:xfrm>
            <a:off x="463280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25" name="Підсумок 3"/>
          <p:cNvSpPr/>
          <p:nvPr/>
        </p:nvSpPr>
        <p:spPr>
          <a:xfrm>
            <a:off x="806180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Підсумок 3 кут 1"/>
          <p:cNvSpPr/>
          <p:nvPr/>
        </p:nvSpPr>
        <p:spPr>
          <a:xfrm>
            <a:off x="806180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7" name="Підсумок 3 кут 2"/>
          <p:cNvSpPr/>
          <p:nvPr/>
        </p:nvSpPr>
        <p:spPr>
          <a:xfrm>
            <a:off x="806180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8" name="Підсумок 3 кут 3"/>
          <p:cNvSpPr/>
          <p:nvPr/>
        </p:nvSpPr>
        <p:spPr>
          <a:xfrm>
            <a:off x="1118905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29" name="Підсумок 3 кут 4"/>
          <p:cNvSpPr/>
          <p:nvPr/>
        </p:nvSpPr>
        <p:spPr>
          <a:xfrm>
            <a:off x="113536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0" name="Підсумок 3 кут 5"/>
          <p:cNvSpPr/>
          <p:nvPr/>
        </p:nvSpPr>
        <p:spPr>
          <a:xfrm>
            <a:off x="806180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1" name="Підсумок 3 кут 6"/>
          <p:cNvSpPr/>
          <p:nvPr/>
        </p:nvSpPr>
        <p:spPr>
          <a:xfrm>
            <a:off x="806180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2" name="Підсумок 3 кут 7"/>
          <p:cNvSpPr/>
          <p:nvPr/>
        </p:nvSpPr>
        <p:spPr>
          <a:xfrm>
            <a:off x="1118905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sp>
        <p:nvSpPr>
          <p:cNvPr id="33" name="Підсумок 3 кут 8"/>
          <p:cNvSpPr/>
          <p:nvPr/>
        </p:nvSpPr>
        <p:spPr>
          <a:xfrm>
            <a:off x="113536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EDEDED">
                <a:alpha val="28800"/>
              </a:srgbClr>
            </a:glow>
          </a:effectLst>
        </p:spPr>
      </p:sp>
      <p:pic>
        <p:nvPicPr>
          <p:cNvPr id="34" name="Іконка MdHub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403" y="3933063"/>
            <a:ext cx="628650" cy="628650"/>
          </a:xfrm>
          <a:prstGeom prst="rect">
            <a:avLst/>
          </a:prstGeom>
        </p:spPr>
      </p:pic>
      <p:sp>
        <p:nvSpPr>
          <p:cNvPr id="35" name="Текст підсумку 3"/>
          <p:cNvSpPr txBox="1"/>
          <p:nvPr/>
        </p:nvSpPr>
        <p:spPr>
          <a:xfrm>
            <a:off x="824468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готова до масштабування</a:t>
            </a:r>
            <a:endParaRPr lang="en-US" sz="1700" dirty="0"/>
          </a:p>
        </p:txBody>
      </p:sp>
      <p:sp>
        <p:nvSpPr>
          <p:cNvPr id="36" name="Подяка"/>
          <p:cNvSpPr txBox="1"/>
          <p:nvPr/>
        </p:nvSpPr>
        <p:spPr>
          <a:xfrm>
            <a:off x="0" y="548640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D7262F"/>
                </a:solidFill>
                <a:effectLst>
                  <a:glow rad="25400">
                    <a:srgbClr val="D7262F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ДЯКУЮ ЗА УВАГУ</a:t>
            </a:r>
            <a:endParaRPr lang="en-US" sz="1800" dirty="0"/>
          </a:p>
        </p:txBody>
      </p:sp>
      <p:sp>
        <p:nvSpPr>
          <p:cNvPr id="37" name="Підпис"/>
          <p:cNvSpPr txBox="1"/>
          <p:nvPr/>
        </p:nvSpPr>
        <p:spPr>
          <a:xfrm>
            <a:off x="0" y="594360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 · Школа пілотів і штурманів FP-2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-2 Tactical">
  <a:themeElements>
    <a:clrScheme name="FP-2 Black Red">
      <a:dk1>
        <a:srgbClr val="0A0A0A"/>
      </a:dk1>
      <a:lt1>
        <a:srgbClr val="F4F4F2"/>
      </a:lt1>
      <a:dk2>
        <a:srgbClr val="161616"/>
      </a:dk2>
      <a:lt2>
        <a:srgbClr val="B0B0B0"/>
      </a:lt2>
      <a:accent1>
        <a:srgbClr val="EDEDED"/>
      </a:accent1>
      <a:accent2>
        <a:srgbClr val="6E1118"/>
      </a:accent2>
      <a:accent3>
        <a:srgbClr val="3A3A3A"/>
      </a:accent3>
      <a:accent4>
        <a:srgbClr val="1C1C1C"/>
      </a:accent4>
      <a:accent5>
        <a:srgbClr val="DADADA"/>
      </a:accent5>
      <a:accent6>
        <a:srgbClr val="8C1A22"/>
      </a:accent6>
      <a:hlink>
        <a:srgbClr val="D7262F"/>
      </a:hlink>
      <a:folHlink>
        <a:srgbClr val="DADADA"/>
      </a:folHlink>
    </a:clrScheme>
    <a:fontScheme name="FP-2 Tactic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Центр спеціальних операцій «А» СБУ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пілотів і штурманів FP-2</dc:title>
  <dc:subject>Презентація проєкту</dc:subject>
  <dc:creator>PptxGenJS</dc:creator>
  <cp:lastModifiedBy>PptxGenJS</cp:lastModifiedBy>
  <cp:revision>1</cp:revision>
  <dcterms:created xsi:type="dcterms:W3CDTF">2026-10-08T13:39:38Z</dcterms:created>
  <dcterms:modified xsi:type="dcterms:W3CDTF">2026-10-08T13:39:38Z</dcterms:modified>
</cp:coreProperties>
</file>